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78240" y="-1463040"/>
            <a:ext cx="4754880" cy="4754880"/>
          </a:xfrm>
          <a:prstGeom prst="ellipse">
            <a:avLst/>
          </a:prstGeom>
          <a:solidFill>
            <a:srgbClr val="EAF6F5"/>
          </a:solidFill>
          <a:ln/>
        </p:spPr>
      </p:sp>
      <p:sp>
        <p:nvSpPr>
          <p:cNvPr id="3" name="Shape 1"/>
          <p:cNvSpPr/>
          <p:nvPr/>
        </p:nvSpPr>
        <p:spPr>
          <a:xfrm>
            <a:off x="10058400" y="-274320"/>
            <a:ext cx="2926080" cy="2926080"/>
          </a:xfrm>
          <a:prstGeom prst="ellipse">
            <a:avLst/>
          </a:prstGeom>
          <a:solidFill>
            <a:srgbClr val="F3FAF9"/>
          </a:solidFill>
          <a:ln/>
        </p:spPr>
      </p:sp>
      <p:sp>
        <p:nvSpPr>
          <p:cNvPr id="4" name="Shape 2"/>
          <p:cNvSpPr/>
          <p:nvPr/>
        </p:nvSpPr>
        <p:spPr>
          <a:xfrm>
            <a:off x="-1280160" y="5120640"/>
            <a:ext cx="3840480" cy="3840480"/>
          </a:xfrm>
          <a:prstGeom prst="ellipse">
            <a:avLst/>
          </a:prstGeom>
          <a:solidFill>
            <a:srgbClr val="EAF6F5"/>
          </a:solidFill>
          <a:ln/>
        </p:spPr>
      </p:sp>
      <p:sp>
        <p:nvSpPr>
          <p:cNvPr id="5" name="Text 3"/>
          <p:cNvSpPr/>
          <p:nvPr/>
        </p:nvSpPr>
        <p:spPr>
          <a:xfrm>
            <a:off x="822960" y="1417320"/>
            <a:ext cx="8229600" cy="365760"/>
          </a:xfrm>
          <a:prstGeom prst="rect">
            <a:avLst/>
          </a:prstGeom>
          <a:noFill/>
          <a:ln/>
        </p:spPr>
        <p:txBody>
          <a:bodyPr wrap="square" rtlCol="0" anchor="ctr"/>
          <a:lstStyle/>
          <a:p>
            <a:pPr indent="0" marL="0">
              <a:buNone/>
            </a:pPr>
            <a:r>
              <a:rPr lang="en-US" sz="1400" b="1" spc="200" kern="0" dirty="0">
                <a:solidFill>
                  <a:srgbClr val="028090"/>
                </a:solidFill>
                <a:latin typeface="Calibri" pitchFamily="34" charset="0"/>
                <a:ea typeface="Calibri" pitchFamily="34" charset="-122"/>
                <a:cs typeface="Calibri" pitchFamily="34" charset="-120"/>
              </a:rPr>
              <a:t>PROYEK BERBASIS PEMBELAJARAN (PjBL)</a:t>
            </a:r>
            <a:endParaRPr lang="en-US" sz="1400" dirty="0"/>
          </a:p>
        </p:txBody>
      </p:sp>
      <p:sp>
        <p:nvSpPr>
          <p:cNvPr id="6" name="Text 4"/>
          <p:cNvSpPr/>
          <p:nvPr/>
        </p:nvSpPr>
        <p:spPr>
          <a:xfrm>
            <a:off x="777240" y="1783080"/>
            <a:ext cx="9144000" cy="1005840"/>
          </a:xfrm>
          <a:prstGeom prst="rect">
            <a:avLst/>
          </a:prstGeom>
          <a:noFill/>
          <a:ln/>
        </p:spPr>
        <p:txBody>
          <a:bodyPr wrap="square" rtlCol="0" anchor="ctr"/>
          <a:lstStyle/>
          <a:p>
            <a:pPr indent="0" marL="0">
              <a:buNone/>
            </a:pPr>
            <a:r>
              <a:rPr lang="en-US" sz="5400" b="1" dirty="0">
                <a:solidFill>
                  <a:srgbClr val="10262B"/>
                </a:solidFill>
                <a:latin typeface="Cambria" pitchFamily="34" charset="0"/>
                <a:ea typeface="Cambria" pitchFamily="34" charset="-122"/>
                <a:cs typeface="Cambria" pitchFamily="34" charset="-120"/>
              </a:rPr>
              <a:t>SI-PEKA</a:t>
            </a:r>
            <a:endParaRPr lang="en-US" sz="5400" dirty="0"/>
          </a:p>
        </p:txBody>
      </p:sp>
      <p:sp>
        <p:nvSpPr>
          <p:cNvPr id="7" name="Text 5"/>
          <p:cNvSpPr/>
          <p:nvPr/>
        </p:nvSpPr>
        <p:spPr>
          <a:xfrm>
            <a:off x="822960" y="2697480"/>
            <a:ext cx="8046720" cy="822960"/>
          </a:xfrm>
          <a:prstGeom prst="rect">
            <a:avLst/>
          </a:prstGeom>
          <a:noFill/>
          <a:ln/>
        </p:spPr>
        <p:txBody>
          <a:bodyPr wrap="square" rtlCol="0" anchor="ctr"/>
          <a:lstStyle/>
          <a:p>
            <a:pPr indent="0" marL="0">
              <a:lnSpc>
                <a:spcPct val="125000"/>
              </a:lnSpc>
              <a:buNone/>
            </a:pPr>
            <a:r>
              <a:rPr lang="en-US" sz="1800" dirty="0">
                <a:solidFill>
                  <a:srgbClr val="3A5257"/>
                </a:solidFill>
                <a:latin typeface="Calibri" pitchFamily="34" charset="0"/>
                <a:ea typeface="Calibri" pitchFamily="34" charset="-122"/>
                <a:cs typeface="Calibri" pitchFamily="34" charset="-120"/>
              </a:rPr>
              <a:t>Sistem Penguji Kelayakan Air Depot Isi Ulang</a:t>
            </a:r>
            <a:endParaRPr lang="en-US" sz="1800" dirty="0"/>
          </a:p>
          <a:p>
            <a:pPr indent="0" marL="0">
              <a:lnSpc>
                <a:spcPct val="125000"/>
              </a:lnSpc>
              <a:buNone/>
            </a:pPr>
            <a:r>
              <a:rPr lang="en-US" sz="1800" dirty="0">
                <a:solidFill>
                  <a:srgbClr val="3A5257"/>
                </a:solidFill>
                <a:latin typeface="Calibri" pitchFamily="34" charset="0"/>
                <a:ea typeface="Calibri" pitchFamily="34" charset="-122"/>
                <a:cs typeface="Calibri" pitchFamily="34" charset="-120"/>
              </a:rPr>
              <a:t>Menggunakan Metode Weighted Product (WP)</a:t>
            </a:r>
            <a:endParaRPr lang="en-US" sz="1800" dirty="0"/>
          </a:p>
        </p:txBody>
      </p:sp>
      <p:sp>
        <p:nvSpPr>
          <p:cNvPr id="8" name="Shape 6"/>
          <p:cNvSpPr/>
          <p:nvPr/>
        </p:nvSpPr>
        <p:spPr>
          <a:xfrm>
            <a:off x="822960" y="3794760"/>
            <a:ext cx="457200" cy="457200"/>
          </a:xfrm>
          <a:prstGeom prst="ellipse">
            <a:avLst/>
          </a:prstGeom>
          <a:solidFill>
            <a:srgbClr val="FFFFFF"/>
          </a:solidFill>
          <a:ln/>
        </p:spPr>
      </p:sp>
      <p:sp>
        <p:nvSpPr>
          <p:cNvPr id="9" name="Text 7"/>
          <p:cNvSpPr/>
          <p:nvPr/>
        </p:nvSpPr>
        <p:spPr>
          <a:xfrm>
            <a:off x="822960" y="3776472"/>
            <a:ext cx="457200" cy="457200"/>
          </a:xfrm>
          <a:prstGeom prst="rect">
            <a:avLst/>
          </a:prstGeom>
          <a:noFill/>
          <a:ln/>
        </p:spPr>
        <p:txBody>
          <a:bodyPr wrap="square" rtlCol="0" anchor="ctr"/>
          <a:lstStyle/>
          <a:p>
            <a:pPr algn="ctr" indent="0" marL="0">
              <a:buNone/>
            </a:pPr>
            <a:r>
              <a:rPr lang="en-US" sz="1300" b="1" dirty="0">
                <a:solidFill>
                  <a:srgbClr val="028090"/>
                </a:solidFill>
                <a:latin typeface="Calibri" pitchFamily="34" charset="0"/>
                <a:ea typeface="Calibri" pitchFamily="34" charset="-122"/>
                <a:cs typeface="Calibri" pitchFamily="34" charset="-120"/>
              </a:rPr>
              <a:t>pH</a:t>
            </a:r>
            <a:endParaRPr lang="en-US" sz="1300" dirty="0"/>
          </a:p>
        </p:txBody>
      </p:sp>
      <p:sp>
        <p:nvSpPr>
          <p:cNvPr id="10" name="Shape 8"/>
          <p:cNvSpPr/>
          <p:nvPr/>
        </p:nvSpPr>
        <p:spPr>
          <a:xfrm>
            <a:off x="1508760" y="3794760"/>
            <a:ext cx="457200" cy="457200"/>
          </a:xfrm>
          <a:prstGeom prst="ellipse">
            <a:avLst/>
          </a:prstGeom>
          <a:solidFill>
            <a:srgbClr val="FFFFFF"/>
          </a:solidFill>
          <a:ln/>
        </p:spPr>
      </p:sp>
      <p:sp>
        <p:nvSpPr>
          <p:cNvPr id="11" name="Text 9"/>
          <p:cNvSpPr/>
          <p:nvPr/>
        </p:nvSpPr>
        <p:spPr>
          <a:xfrm>
            <a:off x="1508760" y="3776472"/>
            <a:ext cx="457200" cy="457200"/>
          </a:xfrm>
          <a:prstGeom prst="rect">
            <a:avLst/>
          </a:prstGeom>
          <a:noFill/>
          <a:ln/>
        </p:spPr>
        <p:txBody>
          <a:bodyPr wrap="square"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TDS</a:t>
            </a:r>
            <a:endParaRPr lang="en-US" sz="1100" dirty="0"/>
          </a:p>
        </p:txBody>
      </p:sp>
      <p:sp>
        <p:nvSpPr>
          <p:cNvPr id="12" name="Shape 10"/>
          <p:cNvSpPr/>
          <p:nvPr/>
        </p:nvSpPr>
        <p:spPr>
          <a:xfrm>
            <a:off x="2194560" y="3794760"/>
            <a:ext cx="457200" cy="457200"/>
          </a:xfrm>
          <a:prstGeom prst="ellipse">
            <a:avLst/>
          </a:prstGeom>
          <a:solidFill>
            <a:srgbClr val="FFFFFF"/>
          </a:solidFill>
          <a:ln/>
        </p:spPr>
      </p:sp>
      <p:sp>
        <p:nvSpPr>
          <p:cNvPr id="13" name="Text 11"/>
          <p:cNvSpPr/>
          <p:nvPr/>
        </p:nvSpPr>
        <p:spPr>
          <a:xfrm>
            <a:off x="2194560" y="3776472"/>
            <a:ext cx="457200" cy="457200"/>
          </a:xfrm>
          <a:prstGeom prst="rect">
            <a:avLst/>
          </a:prstGeom>
          <a:noFill/>
          <a:ln/>
        </p:spPr>
        <p:txBody>
          <a:bodyPr wrap="square" rtlCol="0" anchor="ctr"/>
          <a:lstStyle/>
          <a:p>
            <a:pPr algn="ctr" indent="0" marL="0">
              <a:buNone/>
            </a:pPr>
            <a:r>
              <a:rPr lang="en-US" sz="1100" b="1" dirty="0">
                <a:solidFill>
                  <a:srgbClr val="02C39A"/>
                </a:solidFill>
                <a:latin typeface="Calibri" pitchFamily="34" charset="0"/>
                <a:ea typeface="Calibri" pitchFamily="34" charset="-122"/>
                <a:cs typeface="Calibri" pitchFamily="34" charset="-120"/>
              </a:rPr>
              <a:t>NTU</a:t>
            </a:r>
            <a:endParaRPr lang="en-US" sz="1100" dirty="0"/>
          </a:p>
        </p:txBody>
      </p:sp>
      <p:sp>
        <p:nvSpPr>
          <p:cNvPr id="14" name="Text 12"/>
          <p:cNvSpPr/>
          <p:nvPr/>
        </p:nvSpPr>
        <p:spPr>
          <a:xfrm>
            <a:off x="822960" y="4709160"/>
            <a:ext cx="3657600" cy="274320"/>
          </a:xfrm>
          <a:prstGeom prst="rect">
            <a:avLst/>
          </a:prstGeom>
          <a:noFill/>
          <a:ln/>
        </p:spPr>
        <p:txBody>
          <a:bodyPr wrap="square" rtlCol="0" anchor="ctr"/>
          <a:lstStyle/>
          <a:p>
            <a:pPr indent="0" marL="0">
              <a:buNone/>
            </a:pPr>
            <a:r>
              <a:rPr lang="en-US" sz="1100" b="1" spc="200" kern="0" dirty="0">
                <a:solidFill>
                  <a:srgbClr val="6E8A8E"/>
                </a:solidFill>
                <a:latin typeface="Calibri" pitchFamily="34" charset="0"/>
                <a:ea typeface="Calibri" pitchFamily="34" charset="-122"/>
                <a:cs typeface="Calibri" pitchFamily="34" charset="-120"/>
              </a:rPr>
              <a:t>OLEH</a:t>
            </a:r>
            <a:endParaRPr lang="en-US" sz="1100" dirty="0"/>
          </a:p>
        </p:txBody>
      </p:sp>
      <p:sp>
        <p:nvSpPr>
          <p:cNvPr id="15" name="Text 13"/>
          <p:cNvSpPr/>
          <p:nvPr/>
        </p:nvSpPr>
        <p:spPr>
          <a:xfrm>
            <a:off x="822960" y="4983480"/>
            <a:ext cx="7315200" cy="365760"/>
          </a:xfrm>
          <a:prstGeom prst="rect">
            <a:avLst/>
          </a:prstGeom>
          <a:noFill/>
          <a:ln/>
        </p:spPr>
        <p:txBody>
          <a:bodyPr wrap="square" rtlCol="0" anchor="ctr"/>
          <a:lstStyle/>
          <a:p>
            <a:pPr indent="0" marL="0">
              <a:buNone/>
            </a:pPr>
            <a:r>
              <a:rPr lang="en-US" sz="1600" b="1" dirty="0">
                <a:solidFill>
                  <a:srgbClr val="10262B"/>
                </a:solidFill>
                <a:latin typeface="Calibri" pitchFamily="34" charset="0"/>
                <a:ea typeface="Calibri" pitchFamily="34" charset="-122"/>
                <a:cs typeface="Calibri" pitchFamily="34" charset="-120"/>
              </a:rPr>
              <a:t>Raditya Cahya Azura  ·  NIM 3202516116</a:t>
            </a:r>
            <a:endParaRPr lang="en-US" sz="1600" dirty="0"/>
          </a:p>
        </p:txBody>
      </p:sp>
      <p:sp>
        <p:nvSpPr>
          <p:cNvPr id="16" name="Text 14"/>
          <p:cNvSpPr/>
          <p:nvPr/>
        </p:nvSpPr>
        <p:spPr>
          <a:xfrm>
            <a:off x="822960" y="5394960"/>
            <a:ext cx="7315200" cy="548640"/>
          </a:xfrm>
          <a:prstGeom prst="rect">
            <a:avLst/>
          </a:prstGeom>
          <a:noFill/>
          <a:ln/>
        </p:spPr>
        <p:txBody>
          <a:bodyPr wrap="square" rtlCol="0" anchor="ctr"/>
          <a:lstStyle/>
          <a:p>
            <a:pPr indent="0" marL="0">
              <a:lnSpc>
                <a:spcPct val="120000"/>
              </a:lnSpc>
              <a:buNone/>
            </a:pPr>
            <a:r>
              <a:rPr lang="en-US" sz="1300" dirty="0">
                <a:solidFill>
                  <a:srgbClr val="6E8A8E"/>
                </a:solidFill>
                <a:latin typeface="Calibri" pitchFamily="34" charset="0"/>
                <a:ea typeface="Calibri" pitchFamily="34" charset="-122"/>
                <a:cs typeface="Calibri" pitchFamily="34" charset="-120"/>
              </a:rPr>
              <a:t>Politeknik Negeri Pontianak — Jurusan Teknik Elektro</a:t>
            </a:r>
            <a:endParaRPr lang="en-US" sz="1300" dirty="0"/>
          </a:p>
          <a:p>
            <a:pPr indent="0" marL="0">
              <a:lnSpc>
                <a:spcPct val="120000"/>
              </a:lnSpc>
              <a:buNone/>
            </a:pPr>
            <a:r>
              <a:rPr lang="en-US" sz="1300" dirty="0">
                <a:solidFill>
                  <a:srgbClr val="6E8A8E"/>
                </a:solidFill>
                <a:latin typeface="Calibri" pitchFamily="34" charset="0"/>
                <a:ea typeface="Calibri" pitchFamily="34" charset="-122"/>
                <a:cs typeface="Calibri" pitchFamily="34" charset="-120"/>
              </a:rPr>
              <a:t>Program Studi D-3 Teknik Informatika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BAB 1 · PENDAHULUAN</a:t>
            </a:r>
            <a:endParaRPr lang="en-US" sz="1300" dirty="0"/>
          </a:p>
        </p:txBody>
      </p:sp>
      <p:sp>
        <p:nvSpPr>
          <p:cNvPr id="3" name="Text 1"/>
          <p:cNvSpPr/>
          <p:nvPr/>
        </p:nvSpPr>
        <p:spPr>
          <a:xfrm>
            <a:off x="548640" y="658368"/>
            <a:ext cx="10789920" cy="685800"/>
          </a:xfrm>
          <a:prstGeom prst="rect">
            <a:avLst/>
          </a:prstGeom>
          <a:noFill/>
          <a:ln/>
        </p:spPr>
        <p:txBody>
          <a:bodyPr wrap="square" rtlCol="0" anchor="ctr"/>
          <a:lstStyle/>
          <a:p>
            <a:pPr indent="0" marL="0">
              <a:buNone/>
            </a:pPr>
            <a:r>
              <a:rPr lang="en-US" sz="3000" b="1" dirty="0">
                <a:solidFill>
                  <a:srgbClr val="10262B"/>
                </a:solidFill>
                <a:latin typeface="Cambria" pitchFamily="34" charset="0"/>
                <a:ea typeface="Cambria" pitchFamily="34" charset="-122"/>
                <a:cs typeface="Cambria" pitchFamily="34" charset="-120"/>
              </a:rPr>
              <a:t>Latar Belakang</a:t>
            </a:r>
            <a:endParaRPr lang="en-US" sz="3000" dirty="0"/>
          </a:p>
        </p:txBody>
      </p:sp>
      <p:sp>
        <p:nvSpPr>
          <p:cNvPr id="4" name="Text 2"/>
          <p:cNvSpPr/>
          <p:nvPr/>
        </p:nvSpPr>
        <p:spPr>
          <a:xfrm>
            <a:off x="548640" y="1554480"/>
            <a:ext cx="5943600" cy="2377440"/>
          </a:xfrm>
          <a:prstGeom prst="rect">
            <a:avLst/>
          </a:prstGeom>
          <a:noFill/>
          <a:ln/>
        </p:spPr>
        <p:txBody>
          <a:bodyPr wrap="square" rtlCol="0" anchor="ctr"/>
          <a:lstStyle/>
          <a:p>
            <a:pPr indent="0" marL="0">
              <a:lnSpc>
                <a:spcPct val="135000"/>
              </a:lnSpc>
              <a:buNone/>
            </a:pPr>
            <a:r>
              <a:rPr lang="en-US" sz="1450" dirty="0">
                <a:solidFill>
                  <a:srgbClr val="3A5257"/>
                </a:solidFill>
                <a:latin typeface="Calibri" pitchFamily="34" charset="0"/>
                <a:ea typeface="Calibri" pitchFamily="34" charset="-122"/>
                <a:cs typeface="Calibri" pitchFamily="34" charset="-120"/>
              </a:rPr>
              <a:t>Air minum isi ulang adalah sumber konsumsi harian yang paling banyak dipakai masyarakat perkotaan, namun kualitasnya sangat bergantung pada kondisi filtrasi, sumber air baku, dan perawatan alat tiap depot. Kelayakan konsumsi perlu diperiksa berkala berdasarkan pH, TDS, dan Turbidity — tiga parameter yang saling memengaruhi penilaian akhir, sehingga dibutuhkan sistem yang menggabungkannya secara objektif dan konsisten.</a:t>
            </a:r>
            <a:endParaRPr lang="en-US" sz="1450" dirty="0"/>
          </a:p>
        </p:txBody>
      </p:sp>
      <p:sp>
        <p:nvSpPr>
          <p:cNvPr id="5" name="Shape 3"/>
          <p:cNvSpPr/>
          <p:nvPr/>
        </p:nvSpPr>
        <p:spPr>
          <a:xfrm>
            <a:off x="548640" y="4114800"/>
            <a:ext cx="5943600" cy="1737360"/>
          </a:xfrm>
          <a:prstGeom prst="roundRect">
            <a:avLst>
              <a:gd name="adj" fmla="val 6316"/>
            </a:avLst>
          </a:prstGeom>
          <a:solidFill>
            <a:srgbClr val="F3FAF9"/>
          </a:solidFill>
          <a:ln/>
        </p:spPr>
      </p:sp>
      <p:sp>
        <p:nvSpPr>
          <p:cNvPr id="6" name="Text 4"/>
          <p:cNvSpPr/>
          <p:nvPr/>
        </p:nvSpPr>
        <p:spPr>
          <a:xfrm>
            <a:off x="822960" y="4251960"/>
            <a:ext cx="5486400" cy="320040"/>
          </a:xfrm>
          <a:prstGeom prst="rect">
            <a:avLst/>
          </a:prstGeom>
          <a:noFill/>
          <a:ln/>
        </p:spPr>
        <p:txBody>
          <a:bodyPr wrap="square" rtlCol="0" anchor="ctr"/>
          <a:lstStyle/>
          <a:p>
            <a:pPr indent="0" marL="0">
              <a:buNone/>
            </a:pPr>
            <a:r>
              <a:rPr lang="en-US" sz="1400" b="1" dirty="0">
                <a:solidFill>
                  <a:srgbClr val="045C63"/>
                </a:solidFill>
                <a:latin typeface="Calibri" pitchFamily="34" charset="0"/>
                <a:ea typeface="Calibri" pitchFamily="34" charset="-122"/>
                <a:cs typeface="Calibri" pitchFamily="34" charset="-120"/>
              </a:rPr>
              <a:t>Mengapa Weighted Product?</a:t>
            </a:r>
            <a:endParaRPr lang="en-US" sz="1400" dirty="0"/>
          </a:p>
        </p:txBody>
      </p:sp>
      <p:sp>
        <p:nvSpPr>
          <p:cNvPr id="7" name="Text 5"/>
          <p:cNvSpPr/>
          <p:nvPr/>
        </p:nvSpPr>
        <p:spPr>
          <a:xfrm>
            <a:off x="822960" y="4572000"/>
            <a:ext cx="5486400" cy="1188720"/>
          </a:xfrm>
          <a:prstGeom prst="rect">
            <a:avLst/>
          </a:prstGeom>
          <a:noFill/>
          <a:ln/>
        </p:spPr>
        <p:txBody>
          <a:bodyPr wrap="square" rtlCol="0" anchor="ctr"/>
          <a:lstStyle/>
          <a:p>
            <a:pPr indent="0" marL="0">
              <a:lnSpc>
                <a:spcPct val="130000"/>
              </a:lnSpc>
              <a:buNone/>
            </a:pPr>
            <a:r>
              <a:rPr lang="en-US" sz="1300" dirty="0">
                <a:solidFill>
                  <a:srgbClr val="3A5257"/>
                </a:solidFill>
                <a:latin typeface="Calibri" pitchFamily="34" charset="0"/>
                <a:ea typeface="Calibri" pitchFamily="34" charset="-122"/>
                <a:cs typeface="Calibri" pitchFamily="34" charset="-120"/>
              </a:rPr>
              <a:t>Perhitungannya efisien, tidak memerlukan perangkingan antar banyak alternatif, dan cocok untuk penilaian satu sampel pengukuran secara real-time.</a:t>
            </a:r>
            <a:endParaRPr lang="en-US" sz="1300" dirty="0"/>
          </a:p>
        </p:txBody>
      </p:sp>
      <p:sp>
        <p:nvSpPr>
          <p:cNvPr id="8" name="Shape 6"/>
          <p:cNvSpPr/>
          <p:nvPr/>
        </p:nvSpPr>
        <p:spPr>
          <a:xfrm>
            <a:off x="6858000" y="1554480"/>
            <a:ext cx="4800600" cy="1371600"/>
          </a:xfrm>
          <a:prstGeom prst="roundRect">
            <a:avLst>
              <a:gd name="adj" fmla="val 6667"/>
            </a:avLst>
          </a:prstGeom>
          <a:solidFill>
            <a:srgbClr val="FFFFFF"/>
          </a:solidFill>
          <a:ln w="12700">
            <a:solidFill>
              <a:srgbClr val="D7EAE8"/>
            </a:solidFill>
            <a:prstDash val="solid"/>
          </a:ln>
        </p:spPr>
      </p:sp>
      <p:sp>
        <p:nvSpPr>
          <p:cNvPr id="9" name="Shape 7"/>
          <p:cNvSpPr/>
          <p:nvPr/>
        </p:nvSpPr>
        <p:spPr>
          <a:xfrm>
            <a:off x="7086600" y="1874520"/>
            <a:ext cx="731520" cy="731520"/>
          </a:xfrm>
          <a:prstGeom prst="ellipse">
            <a:avLst/>
          </a:prstGeom>
          <a:solidFill>
            <a:srgbClr val="028090"/>
          </a:solidFill>
          <a:ln/>
        </p:spPr>
      </p:sp>
      <p:sp>
        <p:nvSpPr>
          <p:cNvPr id="10" name="Text 8"/>
          <p:cNvSpPr/>
          <p:nvPr/>
        </p:nvSpPr>
        <p:spPr>
          <a:xfrm>
            <a:off x="7086600" y="1856232"/>
            <a:ext cx="731520" cy="7315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pH</a:t>
            </a:r>
            <a:endParaRPr lang="en-US" sz="1800" dirty="0"/>
          </a:p>
        </p:txBody>
      </p:sp>
      <p:sp>
        <p:nvSpPr>
          <p:cNvPr id="11" name="Text 9"/>
          <p:cNvSpPr/>
          <p:nvPr/>
        </p:nvSpPr>
        <p:spPr>
          <a:xfrm>
            <a:off x="8001000" y="1737360"/>
            <a:ext cx="3474720" cy="365760"/>
          </a:xfrm>
          <a:prstGeom prst="rect">
            <a:avLst/>
          </a:prstGeom>
          <a:noFill/>
          <a:ln/>
        </p:spPr>
        <p:txBody>
          <a:bodyPr wrap="square" rtlCol="0" anchor="ctr"/>
          <a:lstStyle/>
          <a:p>
            <a:pPr indent="0" marL="0">
              <a:buNone/>
            </a:pPr>
            <a:r>
              <a:rPr lang="en-US" sz="1600" b="1" dirty="0">
                <a:solidFill>
                  <a:srgbClr val="10262B"/>
                </a:solidFill>
                <a:latin typeface="Calibri" pitchFamily="34" charset="0"/>
                <a:ea typeface="Calibri" pitchFamily="34" charset="-122"/>
                <a:cs typeface="Calibri" pitchFamily="34" charset="-120"/>
              </a:rPr>
              <a:t>pH</a:t>
            </a:r>
            <a:endParaRPr lang="en-US" sz="1600" dirty="0"/>
          </a:p>
        </p:txBody>
      </p:sp>
      <p:sp>
        <p:nvSpPr>
          <p:cNvPr id="12" name="Text 10"/>
          <p:cNvSpPr/>
          <p:nvPr/>
        </p:nvSpPr>
        <p:spPr>
          <a:xfrm>
            <a:off x="8001000" y="2121408"/>
            <a:ext cx="3520440" cy="640080"/>
          </a:xfrm>
          <a:prstGeom prst="rect">
            <a:avLst/>
          </a:prstGeom>
          <a:noFill/>
          <a:ln/>
        </p:spPr>
        <p:txBody>
          <a:bodyPr wrap="square" rtlCol="0" anchor="ctr"/>
          <a:lstStyle/>
          <a:p>
            <a:pPr indent="0" marL="0">
              <a:lnSpc>
                <a:spcPct val="120000"/>
              </a:lnSpc>
              <a:buNone/>
            </a:pPr>
            <a:r>
              <a:rPr lang="en-US" sz="1250" dirty="0">
                <a:solidFill>
                  <a:srgbClr val="3A5257"/>
                </a:solidFill>
                <a:latin typeface="Calibri" pitchFamily="34" charset="0"/>
                <a:ea typeface="Calibri" pitchFamily="34" charset="-122"/>
                <a:cs typeface="Calibri" pitchFamily="34" charset="-120"/>
              </a:rPr>
              <a:t>Derajat keasaman — target tengah, ideal 7</a:t>
            </a:r>
            <a:endParaRPr lang="en-US" sz="1250" dirty="0"/>
          </a:p>
        </p:txBody>
      </p:sp>
      <p:sp>
        <p:nvSpPr>
          <p:cNvPr id="13" name="Shape 11"/>
          <p:cNvSpPr/>
          <p:nvPr/>
        </p:nvSpPr>
        <p:spPr>
          <a:xfrm>
            <a:off x="6858000" y="3108960"/>
            <a:ext cx="4800600" cy="1371600"/>
          </a:xfrm>
          <a:prstGeom prst="roundRect">
            <a:avLst>
              <a:gd name="adj" fmla="val 6667"/>
            </a:avLst>
          </a:prstGeom>
          <a:solidFill>
            <a:srgbClr val="FFFFFF"/>
          </a:solidFill>
          <a:ln w="12700">
            <a:solidFill>
              <a:srgbClr val="D7EAE8"/>
            </a:solidFill>
            <a:prstDash val="solid"/>
          </a:ln>
        </p:spPr>
      </p:sp>
      <p:sp>
        <p:nvSpPr>
          <p:cNvPr id="14" name="Shape 12"/>
          <p:cNvSpPr/>
          <p:nvPr/>
        </p:nvSpPr>
        <p:spPr>
          <a:xfrm>
            <a:off x="7086600" y="3429000"/>
            <a:ext cx="731520" cy="731520"/>
          </a:xfrm>
          <a:prstGeom prst="ellipse">
            <a:avLst/>
          </a:prstGeom>
          <a:solidFill>
            <a:srgbClr val="065A82"/>
          </a:solidFill>
          <a:ln/>
        </p:spPr>
      </p:sp>
      <p:sp>
        <p:nvSpPr>
          <p:cNvPr id="15" name="Text 13"/>
          <p:cNvSpPr/>
          <p:nvPr/>
        </p:nvSpPr>
        <p:spPr>
          <a:xfrm>
            <a:off x="7086600" y="3410712"/>
            <a:ext cx="731520" cy="7315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TDS</a:t>
            </a:r>
            <a:endParaRPr lang="en-US" sz="1800" dirty="0"/>
          </a:p>
        </p:txBody>
      </p:sp>
      <p:sp>
        <p:nvSpPr>
          <p:cNvPr id="16" name="Text 14"/>
          <p:cNvSpPr/>
          <p:nvPr/>
        </p:nvSpPr>
        <p:spPr>
          <a:xfrm>
            <a:off x="8001000" y="3291840"/>
            <a:ext cx="3474720" cy="365760"/>
          </a:xfrm>
          <a:prstGeom prst="rect">
            <a:avLst/>
          </a:prstGeom>
          <a:noFill/>
          <a:ln/>
        </p:spPr>
        <p:txBody>
          <a:bodyPr wrap="square" rtlCol="0" anchor="ctr"/>
          <a:lstStyle/>
          <a:p>
            <a:pPr indent="0" marL="0">
              <a:buNone/>
            </a:pPr>
            <a:r>
              <a:rPr lang="en-US" sz="1600" b="1" dirty="0">
                <a:solidFill>
                  <a:srgbClr val="10262B"/>
                </a:solidFill>
                <a:latin typeface="Calibri" pitchFamily="34" charset="0"/>
                <a:ea typeface="Calibri" pitchFamily="34" charset="-122"/>
                <a:cs typeface="Calibri" pitchFamily="34" charset="-120"/>
              </a:rPr>
              <a:t>TDS</a:t>
            </a:r>
            <a:endParaRPr lang="en-US" sz="1600" dirty="0"/>
          </a:p>
        </p:txBody>
      </p:sp>
      <p:sp>
        <p:nvSpPr>
          <p:cNvPr id="17" name="Text 15"/>
          <p:cNvSpPr/>
          <p:nvPr/>
        </p:nvSpPr>
        <p:spPr>
          <a:xfrm>
            <a:off x="8001000" y="3675888"/>
            <a:ext cx="3520440" cy="640080"/>
          </a:xfrm>
          <a:prstGeom prst="rect">
            <a:avLst/>
          </a:prstGeom>
          <a:noFill/>
          <a:ln/>
        </p:spPr>
        <p:txBody>
          <a:bodyPr wrap="square" rtlCol="0" anchor="ctr"/>
          <a:lstStyle/>
          <a:p>
            <a:pPr indent="0" marL="0">
              <a:lnSpc>
                <a:spcPct val="120000"/>
              </a:lnSpc>
              <a:buNone/>
            </a:pPr>
            <a:r>
              <a:rPr lang="en-US" sz="1250" dirty="0">
                <a:solidFill>
                  <a:srgbClr val="3A5257"/>
                </a:solidFill>
                <a:latin typeface="Calibri" pitchFamily="34" charset="0"/>
                <a:ea typeface="Calibri" pitchFamily="34" charset="-122"/>
                <a:cs typeface="Calibri" pitchFamily="34" charset="-120"/>
              </a:rPr>
              <a:t>Total padatan terlarut — maksimum 300 ppm</a:t>
            </a:r>
            <a:endParaRPr lang="en-US" sz="1250" dirty="0"/>
          </a:p>
        </p:txBody>
      </p:sp>
      <p:sp>
        <p:nvSpPr>
          <p:cNvPr id="18" name="Shape 16"/>
          <p:cNvSpPr/>
          <p:nvPr/>
        </p:nvSpPr>
        <p:spPr>
          <a:xfrm>
            <a:off x="6858000" y="4663440"/>
            <a:ext cx="4800600" cy="1371600"/>
          </a:xfrm>
          <a:prstGeom prst="roundRect">
            <a:avLst>
              <a:gd name="adj" fmla="val 6667"/>
            </a:avLst>
          </a:prstGeom>
          <a:solidFill>
            <a:srgbClr val="FFFFFF"/>
          </a:solidFill>
          <a:ln w="12700">
            <a:solidFill>
              <a:srgbClr val="D7EAE8"/>
            </a:solidFill>
            <a:prstDash val="solid"/>
          </a:ln>
        </p:spPr>
      </p:sp>
      <p:sp>
        <p:nvSpPr>
          <p:cNvPr id="19" name="Shape 17"/>
          <p:cNvSpPr/>
          <p:nvPr/>
        </p:nvSpPr>
        <p:spPr>
          <a:xfrm>
            <a:off x="7086600" y="4983480"/>
            <a:ext cx="731520" cy="731520"/>
          </a:xfrm>
          <a:prstGeom prst="ellipse">
            <a:avLst/>
          </a:prstGeom>
          <a:solidFill>
            <a:srgbClr val="02C39A"/>
          </a:solidFill>
          <a:ln/>
        </p:spPr>
      </p:sp>
      <p:sp>
        <p:nvSpPr>
          <p:cNvPr id="20" name="Text 18"/>
          <p:cNvSpPr/>
          <p:nvPr/>
        </p:nvSpPr>
        <p:spPr>
          <a:xfrm>
            <a:off x="7086600" y="4965192"/>
            <a:ext cx="731520" cy="7315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Turbidity</a:t>
            </a:r>
            <a:endParaRPr lang="en-US" sz="1300" dirty="0"/>
          </a:p>
        </p:txBody>
      </p:sp>
      <p:sp>
        <p:nvSpPr>
          <p:cNvPr id="21" name="Text 19"/>
          <p:cNvSpPr/>
          <p:nvPr/>
        </p:nvSpPr>
        <p:spPr>
          <a:xfrm>
            <a:off x="8001000" y="4846320"/>
            <a:ext cx="3474720" cy="365760"/>
          </a:xfrm>
          <a:prstGeom prst="rect">
            <a:avLst/>
          </a:prstGeom>
          <a:noFill/>
          <a:ln/>
        </p:spPr>
        <p:txBody>
          <a:bodyPr wrap="square" rtlCol="0" anchor="ctr"/>
          <a:lstStyle/>
          <a:p>
            <a:pPr indent="0" marL="0">
              <a:buNone/>
            </a:pPr>
            <a:r>
              <a:rPr lang="en-US" sz="1600" b="1" dirty="0">
                <a:solidFill>
                  <a:srgbClr val="10262B"/>
                </a:solidFill>
                <a:latin typeface="Calibri" pitchFamily="34" charset="0"/>
                <a:ea typeface="Calibri" pitchFamily="34" charset="-122"/>
                <a:cs typeface="Calibri" pitchFamily="34" charset="-120"/>
              </a:rPr>
              <a:t>Turbidity</a:t>
            </a:r>
            <a:endParaRPr lang="en-US" sz="1600" dirty="0"/>
          </a:p>
        </p:txBody>
      </p:sp>
      <p:sp>
        <p:nvSpPr>
          <p:cNvPr id="22" name="Text 20"/>
          <p:cNvSpPr/>
          <p:nvPr/>
        </p:nvSpPr>
        <p:spPr>
          <a:xfrm>
            <a:off x="8001000" y="5230368"/>
            <a:ext cx="3520440" cy="640080"/>
          </a:xfrm>
          <a:prstGeom prst="rect">
            <a:avLst/>
          </a:prstGeom>
          <a:noFill/>
          <a:ln/>
        </p:spPr>
        <p:txBody>
          <a:bodyPr wrap="square" rtlCol="0" anchor="ctr"/>
          <a:lstStyle/>
          <a:p>
            <a:pPr indent="0" marL="0">
              <a:lnSpc>
                <a:spcPct val="120000"/>
              </a:lnSpc>
              <a:buNone/>
            </a:pPr>
            <a:r>
              <a:rPr lang="en-US" sz="1250" dirty="0">
                <a:solidFill>
                  <a:srgbClr val="3A5257"/>
                </a:solidFill>
                <a:latin typeface="Calibri" pitchFamily="34" charset="0"/>
                <a:ea typeface="Calibri" pitchFamily="34" charset="-122"/>
                <a:cs typeface="Calibri" pitchFamily="34" charset="-120"/>
              </a:rPr>
              <a:t>Tingkat kekeruhan — maksimum 3 NTU</a:t>
            </a:r>
            <a:endParaRPr lang="en-US" sz="1250" dirty="0"/>
          </a:p>
        </p:txBody>
      </p:sp>
      <p:sp>
        <p:nvSpPr>
          <p:cNvPr id="23" name="Text 21"/>
          <p:cNvSpPr/>
          <p:nvPr/>
        </p:nvSpPr>
        <p:spPr>
          <a:xfrm>
            <a:off x="457200" y="6519672"/>
            <a:ext cx="5486400" cy="274320"/>
          </a:xfrm>
          <a:prstGeom prst="rect">
            <a:avLst/>
          </a:prstGeom>
          <a:noFill/>
          <a:ln/>
        </p:spPr>
        <p:txBody>
          <a:bodyPr wrap="square" rtlCol="0" anchor="ctr"/>
          <a:lstStyle/>
          <a:p>
            <a:pPr algn="l" indent="0" marL="0">
              <a:buNone/>
            </a:pPr>
            <a:r>
              <a:rPr lang="en-US" sz="900" dirty="0">
                <a:solidFill>
                  <a:srgbClr val="6E8A8E"/>
                </a:solidFill>
                <a:latin typeface="Calibri" pitchFamily="34" charset="0"/>
                <a:ea typeface="Calibri" pitchFamily="34" charset="-122"/>
                <a:cs typeface="Calibri" pitchFamily="34" charset="-120"/>
              </a:rPr>
              <a:t>SI-PEKA · Sistem Penguji Kelayakan Air</a:t>
            </a:r>
            <a:endParaRPr lang="en-US" sz="900" dirty="0"/>
          </a:p>
        </p:txBody>
      </p:sp>
      <p:sp>
        <p:nvSpPr>
          <p:cNvPr id="24" name="Text 22"/>
          <p:cNvSpPr/>
          <p:nvPr/>
        </p:nvSpPr>
        <p:spPr>
          <a:xfrm>
            <a:off x="11430000" y="6519672"/>
            <a:ext cx="365760" cy="274320"/>
          </a:xfrm>
          <a:prstGeom prst="rect">
            <a:avLst/>
          </a:prstGeom>
          <a:noFill/>
          <a:ln/>
        </p:spPr>
        <p:txBody>
          <a:bodyPr wrap="square" rtlCol="0" anchor="ctr"/>
          <a:lstStyle/>
          <a:p>
            <a:pPr algn="r" indent="0" marL="0">
              <a:buNone/>
            </a:pPr>
            <a:r>
              <a:rPr lang="en-US" sz="900" dirty="0">
                <a:solidFill>
                  <a:srgbClr val="6E8A8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BAB 1 · PENDAHULUAN</a:t>
            </a:r>
            <a:endParaRPr lang="en-US" sz="1300" dirty="0"/>
          </a:p>
        </p:txBody>
      </p:sp>
      <p:sp>
        <p:nvSpPr>
          <p:cNvPr id="3" name="Text 1"/>
          <p:cNvSpPr/>
          <p:nvPr/>
        </p:nvSpPr>
        <p:spPr>
          <a:xfrm>
            <a:off x="548640" y="658368"/>
            <a:ext cx="10789920" cy="685800"/>
          </a:xfrm>
          <a:prstGeom prst="rect">
            <a:avLst/>
          </a:prstGeom>
          <a:noFill/>
          <a:ln/>
        </p:spPr>
        <p:txBody>
          <a:bodyPr wrap="square" rtlCol="0" anchor="ctr"/>
          <a:lstStyle/>
          <a:p>
            <a:pPr indent="0" marL="0">
              <a:buNone/>
            </a:pPr>
            <a:r>
              <a:rPr lang="en-US" sz="3000" b="1" dirty="0">
                <a:solidFill>
                  <a:srgbClr val="10262B"/>
                </a:solidFill>
                <a:latin typeface="Cambria" pitchFamily="34" charset="0"/>
                <a:ea typeface="Cambria" pitchFamily="34" charset="-122"/>
                <a:cs typeface="Cambria" pitchFamily="34" charset="-120"/>
              </a:rPr>
              <a:t>Rumusan Masalah &amp; Tujuan</a:t>
            </a:r>
            <a:endParaRPr lang="en-US" sz="3000" dirty="0"/>
          </a:p>
        </p:txBody>
      </p:sp>
      <p:sp>
        <p:nvSpPr>
          <p:cNvPr id="4" name="Text 2"/>
          <p:cNvSpPr/>
          <p:nvPr/>
        </p:nvSpPr>
        <p:spPr>
          <a:xfrm>
            <a:off x="548640" y="1508760"/>
            <a:ext cx="5486400" cy="320040"/>
          </a:xfrm>
          <a:prstGeom prst="rect">
            <a:avLst/>
          </a:prstGeom>
          <a:noFill/>
          <a:ln/>
        </p:spPr>
        <p:txBody>
          <a:bodyPr wrap="square" rtlCol="0" anchor="ctr"/>
          <a:lstStyle/>
          <a:p>
            <a:pPr indent="0" marL="0">
              <a:buNone/>
            </a:pPr>
            <a:r>
              <a:rPr lang="en-US" sz="1400" b="1" spc="100" kern="0" dirty="0">
                <a:solidFill>
                  <a:srgbClr val="045C63"/>
                </a:solidFill>
                <a:latin typeface="Calibri" pitchFamily="34" charset="0"/>
                <a:ea typeface="Calibri" pitchFamily="34" charset="-122"/>
                <a:cs typeface="Calibri" pitchFamily="34" charset="-120"/>
              </a:rPr>
              <a:t>IDENTIFIKASI MASALAH</a:t>
            </a:r>
            <a:endParaRPr lang="en-US" sz="1400" dirty="0"/>
          </a:p>
        </p:txBody>
      </p:sp>
      <p:sp>
        <p:nvSpPr>
          <p:cNvPr id="5" name="Shape 3"/>
          <p:cNvSpPr/>
          <p:nvPr/>
        </p:nvSpPr>
        <p:spPr>
          <a:xfrm>
            <a:off x="548640" y="1920240"/>
            <a:ext cx="310896" cy="310896"/>
          </a:xfrm>
          <a:prstGeom prst="ellipse">
            <a:avLst/>
          </a:prstGeom>
          <a:solidFill>
            <a:srgbClr val="EAF6F5"/>
          </a:solidFill>
          <a:ln/>
        </p:spPr>
      </p:sp>
      <p:sp>
        <p:nvSpPr>
          <p:cNvPr id="6" name="Text 4"/>
          <p:cNvSpPr/>
          <p:nvPr/>
        </p:nvSpPr>
        <p:spPr>
          <a:xfrm>
            <a:off x="548640" y="1901952"/>
            <a:ext cx="310896" cy="310896"/>
          </a:xfrm>
          <a:prstGeom prst="rect">
            <a:avLst/>
          </a:prstGeom>
          <a:noFill/>
          <a:ln/>
        </p:spPr>
        <p:txBody>
          <a:bodyPr wrap="square" rtlCol="0" anchor="ctr"/>
          <a:lstStyle/>
          <a:p>
            <a:pPr algn="ctr" indent="0" marL="0">
              <a:buNone/>
            </a:pPr>
            <a:r>
              <a:rPr lang="en-US" sz="1300" b="1" dirty="0">
                <a:solidFill>
                  <a:srgbClr val="045C63"/>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05840" y="1865376"/>
            <a:ext cx="5394960" cy="640080"/>
          </a:xfrm>
          <a:prstGeom prst="rect">
            <a:avLst/>
          </a:prstGeom>
          <a:noFill/>
          <a:ln/>
        </p:spPr>
        <p:txBody>
          <a:bodyPr wrap="square" rtlCol="0" anchor="ctr"/>
          <a:lstStyle/>
          <a:p>
            <a:pPr indent="0" marL="0">
              <a:lnSpc>
                <a:spcPct val="115000"/>
              </a:lnSpc>
              <a:buNone/>
            </a:pPr>
            <a:r>
              <a:rPr lang="en-US" sz="1250" dirty="0">
                <a:solidFill>
                  <a:srgbClr val="3A5257"/>
                </a:solidFill>
                <a:latin typeface="Calibri" pitchFamily="34" charset="0"/>
                <a:ea typeface="Calibri" pitchFamily="34" charset="-122"/>
                <a:cs typeface="Calibri" pitchFamily="34" charset="-120"/>
              </a:rPr>
              <a:t>Bagaimana menormalisasi tiga parameter berbeda sifat (pH target-tengah, TDS &amp; Turbidity cost) ke skala 0–1 yang sebanding?</a:t>
            </a:r>
            <a:endParaRPr lang="en-US" sz="1250" dirty="0"/>
          </a:p>
        </p:txBody>
      </p:sp>
      <p:sp>
        <p:nvSpPr>
          <p:cNvPr id="8" name="Shape 6"/>
          <p:cNvSpPr/>
          <p:nvPr/>
        </p:nvSpPr>
        <p:spPr>
          <a:xfrm>
            <a:off x="548640" y="2697480"/>
            <a:ext cx="310896" cy="310896"/>
          </a:xfrm>
          <a:prstGeom prst="ellipse">
            <a:avLst/>
          </a:prstGeom>
          <a:solidFill>
            <a:srgbClr val="EAF6F5"/>
          </a:solidFill>
          <a:ln/>
        </p:spPr>
      </p:sp>
      <p:sp>
        <p:nvSpPr>
          <p:cNvPr id="9" name="Text 7"/>
          <p:cNvSpPr/>
          <p:nvPr/>
        </p:nvSpPr>
        <p:spPr>
          <a:xfrm>
            <a:off x="548640" y="2679192"/>
            <a:ext cx="310896" cy="310896"/>
          </a:xfrm>
          <a:prstGeom prst="rect">
            <a:avLst/>
          </a:prstGeom>
          <a:noFill/>
          <a:ln/>
        </p:spPr>
        <p:txBody>
          <a:bodyPr wrap="square" rtlCol="0" anchor="ctr"/>
          <a:lstStyle/>
          <a:p>
            <a:pPr algn="ctr" indent="0" marL="0">
              <a:buNone/>
            </a:pPr>
            <a:r>
              <a:rPr lang="en-US" sz="1300" b="1" dirty="0">
                <a:solidFill>
                  <a:srgbClr val="045C63"/>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005840" y="2642616"/>
            <a:ext cx="5394960" cy="640080"/>
          </a:xfrm>
          <a:prstGeom prst="rect">
            <a:avLst/>
          </a:prstGeom>
          <a:noFill/>
          <a:ln/>
        </p:spPr>
        <p:txBody>
          <a:bodyPr wrap="square" rtlCol="0" anchor="ctr"/>
          <a:lstStyle/>
          <a:p>
            <a:pPr indent="0" marL="0">
              <a:lnSpc>
                <a:spcPct val="115000"/>
              </a:lnSpc>
              <a:buNone/>
            </a:pPr>
            <a:r>
              <a:rPr lang="en-US" sz="1250" dirty="0">
                <a:solidFill>
                  <a:srgbClr val="3A5257"/>
                </a:solidFill>
                <a:latin typeface="Calibri" pitchFamily="34" charset="0"/>
                <a:ea typeface="Calibri" pitchFamily="34" charset="-122"/>
                <a:cs typeface="Calibri" pitchFamily="34" charset="-120"/>
              </a:rPr>
              <a:t>Bagaimana menggabungkan ketiga skor kriteria menjadi satu nilai keputusan akhir dengan Weighted Product?</a:t>
            </a:r>
            <a:endParaRPr lang="en-US" sz="1250" dirty="0"/>
          </a:p>
        </p:txBody>
      </p:sp>
      <p:sp>
        <p:nvSpPr>
          <p:cNvPr id="11" name="Shape 9"/>
          <p:cNvSpPr/>
          <p:nvPr/>
        </p:nvSpPr>
        <p:spPr>
          <a:xfrm>
            <a:off x="548640" y="3474720"/>
            <a:ext cx="310896" cy="310896"/>
          </a:xfrm>
          <a:prstGeom prst="ellipse">
            <a:avLst/>
          </a:prstGeom>
          <a:solidFill>
            <a:srgbClr val="EAF6F5"/>
          </a:solidFill>
          <a:ln/>
        </p:spPr>
      </p:sp>
      <p:sp>
        <p:nvSpPr>
          <p:cNvPr id="12" name="Text 10"/>
          <p:cNvSpPr/>
          <p:nvPr/>
        </p:nvSpPr>
        <p:spPr>
          <a:xfrm>
            <a:off x="548640" y="3456432"/>
            <a:ext cx="310896" cy="310896"/>
          </a:xfrm>
          <a:prstGeom prst="rect">
            <a:avLst/>
          </a:prstGeom>
          <a:noFill/>
          <a:ln/>
        </p:spPr>
        <p:txBody>
          <a:bodyPr wrap="square" rtlCol="0" anchor="ctr"/>
          <a:lstStyle/>
          <a:p>
            <a:pPr algn="ctr" indent="0" marL="0">
              <a:buNone/>
            </a:pPr>
            <a:r>
              <a:rPr lang="en-US" sz="1300" b="1" dirty="0">
                <a:solidFill>
                  <a:srgbClr val="045C63"/>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005840" y="3419856"/>
            <a:ext cx="5394960" cy="640080"/>
          </a:xfrm>
          <a:prstGeom prst="rect">
            <a:avLst/>
          </a:prstGeom>
          <a:noFill/>
          <a:ln/>
        </p:spPr>
        <p:txBody>
          <a:bodyPr wrap="square" rtlCol="0" anchor="ctr"/>
          <a:lstStyle/>
          <a:p>
            <a:pPr indent="0" marL="0">
              <a:lnSpc>
                <a:spcPct val="115000"/>
              </a:lnSpc>
              <a:buNone/>
            </a:pPr>
            <a:r>
              <a:rPr lang="en-US" sz="1250" dirty="0">
                <a:solidFill>
                  <a:srgbClr val="3A5257"/>
                </a:solidFill>
                <a:latin typeface="Calibri" pitchFamily="34" charset="0"/>
                <a:ea typeface="Calibri" pitchFamily="34" charset="-122"/>
                <a:cs typeface="Calibri" pitchFamily="34" charset="-120"/>
              </a:rPr>
              <a:t>Bagaimana merancang basis data relasional untuk riwayat pemeriksaan yang terhubung dengan data depot?</a:t>
            </a:r>
            <a:endParaRPr lang="en-US" sz="1250" dirty="0"/>
          </a:p>
        </p:txBody>
      </p:sp>
      <p:sp>
        <p:nvSpPr>
          <p:cNvPr id="14" name="Shape 12"/>
          <p:cNvSpPr/>
          <p:nvPr/>
        </p:nvSpPr>
        <p:spPr>
          <a:xfrm>
            <a:off x="548640" y="4251960"/>
            <a:ext cx="310896" cy="310896"/>
          </a:xfrm>
          <a:prstGeom prst="ellipse">
            <a:avLst/>
          </a:prstGeom>
          <a:solidFill>
            <a:srgbClr val="EAF6F5"/>
          </a:solidFill>
          <a:ln/>
        </p:spPr>
      </p:sp>
      <p:sp>
        <p:nvSpPr>
          <p:cNvPr id="15" name="Text 13"/>
          <p:cNvSpPr/>
          <p:nvPr/>
        </p:nvSpPr>
        <p:spPr>
          <a:xfrm>
            <a:off x="548640" y="4233672"/>
            <a:ext cx="310896" cy="310896"/>
          </a:xfrm>
          <a:prstGeom prst="rect">
            <a:avLst/>
          </a:prstGeom>
          <a:noFill/>
          <a:ln/>
        </p:spPr>
        <p:txBody>
          <a:bodyPr wrap="square" rtlCol="0" anchor="ctr"/>
          <a:lstStyle/>
          <a:p>
            <a:pPr algn="ctr" indent="0" marL="0">
              <a:buNone/>
            </a:pPr>
            <a:r>
              <a:rPr lang="en-US" sz="1300" b="1" dirty="0">
                <a:solidFill>
                  <a:srgbClr val="045C63"/>
                </a:solidFill>
                <a:latin typeface="Calibri" pitchFamily="34" charset="0"/>
                <a:ea typeface="Calibri" pitchFamily="34" charset="-122"/>
                <a:cs typeface="Calibri" pitchFamily="34" charset="-120"/>
              </a:rPr>
              <a:t>4</a:t>
            </a:r>
            <a:endParaRPr lang="en-US" sz="1300" dirty="0"/>
          </a:p>
        </p:txBody>
      </p:sp>
      <p:sp>
        <p:nvSpPr>
          <p:cNvPr id="16" name="Text 14"/>
          <p:cNvSpPr/>
          <p:nvPr/>
        </p:nvSpPr>
        <p:spPr>
          <a:xfrm>
            <a:off x="1005840" y="4197096"/>
            <a:ext cx="5394960" cy="640080"/>
          </a:xfrm>
          <a:prstGeom prst="rect">
            <a:avLst/>
          </a:prstGeom>
          <a:noFill/>
          <a:ln/>
        </p:spPr>
        <p:txBody>
          <a:bodyPr wrap="square" rtlCol="0" anchor="ctr"/>
          <a:lstStyle/>
          <a:p>
            <a:pPr indent="0" marL="0">
              <a:lnSpc>
                <a:spcPct val="115000"/>
              </a:lnSpc>
              <a:buNone/>
            </a:pPr>
            <a:r>
              <a:rPr lang="en-US" sz="1250" dirty="0">
                <a:solidFill>
                  <a:srgbClr val="3A5257"/>
                </a:solidFill>
                <a:latin typeface="Calibri" pitchFamily="34" charset="0"/>
                <a:ea typeface="Calibri" pitchFamily="34" charset="-122"/>
                <a:cs typeface="Calibri" pitchFamily="34" charset="-120"/>
              </a:rPr>
              <a:t>Bagaimana menyajikan riwayat yang dapat difilter per depot, status, dan rentang waktu?</a:t>
            </a:r>
            <a:endParaRPr lang="en-US" sz="1250" dirty="0"/>
          </a:p>
        </p:txBody>
      </p:sp>
      <p:sp>
        <p:nvSpPr>
          <p:cNvPr id="17" name="Shape 15"/>
          <p:cNvSpPr/>
          <p:nvPr/>
        </p:nvSpPr>
        <p:spPr>
          <a:xfrm>
            <a:off x="6858000" y="1508760"/>
            <a:ext cx="4800600" cy="4663440"/>
          </a:xfrm>
          <a:prstGeom prst="roundRect">
            <a:avLst>
              <a:gd name="adj" fmla="val 2745"/>
            </a:avLst>
          </a:prstGeom>
          <a:solidFill>
            <a:srgbClr val="045C63"/>
          </a:solidFill>
          <a:ln/>
        </p:spPr>
      </p:sp>
      <p:sp>
        <p:nvSpPr>
          <p:cNvPr id="18" name="Text 16"/>
          <p:cNvSpPr/>
          <p:nvPr/>
        </p:nvSpPr>
        <p:spPr>
          <a:xfrm>
            <a:off x="7223760" y="1783080"/>
            <a:ext cx="4114800" cy="32004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TUJUAN PROYEK</a:t>
            </a:r>
            <a:endParaRPr lang="en-US" sz="1300" dirty="0"/>
          </a:p>
        </p:txBody>
      </p:sp>
      <p:sp>
        <p:nvSpPr>
          <p:cNvPr id="19" name="Shape 17"/>
          <p:cNvSpPr/>
          <p:nvPr/>
        </p:nvSpPr>
        <p:spPr>
          <a:xfrm>
            <a:off x="7223760" y="2295144"/>
            <a:ext cx="91440" cy="91440"/>
          </a:xfrm>
          <a:prstGeom prst="ellipse">
            <a:avLst/>
          </a:prstGeom>
          <a:solidFill>
            <a:srgbClr val="02C39A"/>
          </a:solidFill>
          <a:ln/>
        </p:spPr>
      </p:sp>
      <p:sp>
        <p:nvSpPr>
          <p:cNvPr id="20" name="Text 18"/>
          <p:cNvSpPr/>
          <p:nvPr/>
        </p:nvSpPr>
        <p:spPr>
          <a:xfrm>
            <a:off x="7452360" y="2130552"/>
            <a:ext cx="4023360" cy="868680"/>
          </a:xfrm>
          <a:prstGeom prst="rect">
            <a:avLst/>
          </a:prstGeom>
          <a:noFill/>
          <a:ln/>
        </p:spPr>
        <p:txBody>
          <a:bodyPr wrap="square" rtlCol="0" anchor="ctr"/>
          <a:lstStyle/>
          <a:p>
            <a:pPr indent="0" marL="0">
              <a:lnSpc>
                <a:spcPct val="125000"/>
              </a:lnSpc>
              <a:buNone/>
            </a:pPr>
            <a:r>
              <a:rPr lang="en-US" sz="1250" dirty="0">
                <a:solidFill>
                  <a:srgbClr val="F2FBFA"/>
                </a:solidFill>
                <a:latin typeface="Calibri" pitchFamily="34" charset="0"/>
                <a:ea typeface="Calibri" pitchFamily="34" charset="-122"/>
                <a:cs typeface="Calibri" pitchFamily="34" charset="-120"/>
              </a:rPr>
              <a:t>Mengimplementasikan metode WP untuk status kelayakan air (Layak / Waspada / Tidak Layak)</a:t>
            </a:r>
            <a:endParaRPr lang="en-US" sz="1250" dirty="0"/>
          </a:p>
        </p:txBody>
      </p:sp>
      <p:sp>
        <p:nvSpPr>
          <p:cNvPr id="21" name="Shape 19"/>
          <p:cNvSpPr/>
          <p:nvPr/>
        </p:nvSpPr>
        <p:spPr>
          <a:xfrm>
            <a:off x="7223760" y="3319272"/>
            <a:ext cx="91440" cy="91440"/>
          </a:xfrm>
          <a:prstGeom prst="ellipse">
            <a:avLst/>
          </a:prstGeom>
          <a:solidFill>
            <a:srgbClr val="02C39A"/>
          </a:solidFill>
          <a:ln/>
        </p:spPr>
      </p:sp>
      <p:sp>
        <p:nvSpPr>
          <p:cNvPr id="22" name="Text 20"/>
          <p:cNvSpPr/>
          <p:nvPr/>
        </p:nvSpPr>
        <p:spPr>
          <a:xfrm>
            <a:off x="7452360" y="3154680"/>
            <a:ext cx="4023360" cy="868680"/>
          </a:xfrm>
          <a:prstGeom prst="rect">
            <a:avLst/>
          </a:prstGeom>
          <a:noFill/>
          <a:ln/>
        </p:spPr>
        <p:txBody>
          <a:bodyPr wrap="square" rtlCol="0" anchor="ctr"/>
          <a:lstStyle/>
          <a:p>
            <a:pPr indent="0" marL="0">
              <a:lnSpc>
                <a:spcPct val="125000"/>
              </a:lnSpc>
              <a:buNone/>
            </a:pPr>
            <a:r>
              <a:rPr lang="en-US" sz="1250" dirty="0">
                <a:solidFill>
                  <a:srgbClr val="F2FBFA"/>
                </a:solidFill>
                <a:latin typeface="Calibri" pitchFamily="34" charset="0"/>
                <a:ea typeface="Calibri" pitchFamily="34" charset="-122"/>
                <a:cs typeface="Calibri" pitchFamily="34" charset="-120"/>
              </a:rPr>
              <a:t>Membangun antarmuka web interaktif dengan live preview, gauge visual, dan riwayat pemeriksaan</a:t>
            </a:r>
            <a:endParaRPr lang="en-US" sz="1250" dirty="0"/>
          </a:p>
        </p:txBody>
      </p:sp>
      <p:sp>
        <p:nvSpPr>
          <p:cNvPr id="23" name="Shape 21"/>
          <p:cNvSpPr/>
          <p:nvPr/>
        </p:nvSpPr>
        <p:spPr>
          <a:xfrm>
            <a:off x="7223760" y="4343400"/>
            <a:ext cx="91440" cy="91440"/>
          </a:xfrm>
          <a:prstGeom prst="ellipse">
            <a:avLst/>
          </a:prstGeom>
          <a:solidFill>
            <a:srgbClr val="02C39A"/>
          </a:solidFill>
          <a:ln/>
        </p:spPr>
      </p:sp>
      <p:sp>
        <p:nvSpPr>
          <p:cNvPr id="24" name="Text 22"/>
          <p:cNvSpPr/>
          <p:nvPr/>
        </p:nvSpPr>
        <p:spPr>
          <a:xfrm>
            <a:off x="7452360" y="4178808"/>
            <a:ext cx="4023360" cy="868680"/>
          </a:xfrm>
          <a:prstGeom prst="rect">
            <a:avLst/>
          </a:prstGeom>
          <a:noFill/>
          <a:ln/>
        </p:spPr>
        <p:txBody>
          <a:bodyPr wrap="square" rtlCol="0" anchor="ctr"/>
          <a:lstStyle/>
          <a:p>
            <a:pPr indent="0" marL="0">
              <a:lnSpc>
                <a:spcPct val="125000"/>
              </a:lnSpc>
              <a:buNone/>
            </a:pPr>
            <a:r>
              <a:rPr lang="en-US" sz="1250" dirty="0">
                <a:solidFill>
                  <a:srgbClr val="F2FBFA"/>
                </a:solidFill>
                <a:latin typeface="Calibri" pitchFamily="34" charset="0"/>
                <a:ea typeface="Calibri" pitchFamily="34" charset="-122"/>
                <a:cs typeface="Calibri" pitchFamily="34" charset="-120"/>
              </a:rPr>
              <a:t>Merancang basis data MySQL ternormalisasi untuk depot, riwayat, dan bobot kriteria</a:t>
            </a:r>
            <a:endParaRPr lang="en-US" sz="1250" dirty="0"/>
          </a:p>
        </p:txBody>
      </p:sp>
      <p:sp>
        <p:nvSpPr>
          <p:cNvPr id="25" name="Shape 23"/>
          <p:cNvSpPr/>
          <p:nvPr/>
        </p:nvSpPr>
        <p:spPr>
          <a:xfrm>
            <a:off x="7223760" y="5367528"/>
            <a:ext cx="91440" cy="91440"/>
          </a:xfrm>
          <a:prstGeom prst="ellipse">
            <a:avLst/>
          </a:prstGeom>
          <a:solidFill>
            <a:srgbClr val="02C39A"/>
          </a:solidFill>
          <a:ln/>
        </p:spPr>
      </p:sp>
      <p:sp>
        <p:nvSpPr>
          <p:cNvPr id="26" name="Text 24"/>
          <p:cNvSpPr/>
          <p:nvPr/>
        </p:nvSpPr>
        <p:spPr>
          <a:xfrm>
            <a:off x="7452360" y="5202936"/>
            <a:ext cx="4023360" cy="868680"/>
          </a:xfrm>
          <a:prstGeom prst="rect">
            <a:avLst/>
          </a:prstGeom>
          <a:noFill/>
          <a:ln/>
        </p:spPr>
        <p:txBody>
          <a:bodyPr wrap="square" rtlCol="0" anchor="ctr"/>
          <a:lstStyle/>
          <a:p>
            <a:pPr indent="0" marL="0">
              <a:lnSpc>
                <a:spcPct val="125000"/>
              </a:lnSpc>
              <a:buNone/>
            </a:pPr>
            <a:r>
              <a:rPr lang="en-US" sz="1250" dirty="0">
                <a:solidFill>
                  <a:srgbClr val="F2FBFA"/>
                </a:solidFill>
                <a:latin typeface="Calibri" pitchFamily="34" charset="0"/>
                <a:ea typeface="Calibri" pitchFamily="34" charset="-122"/>
                <a:cs typeface="Calibri" pitchFamily="34" charset="-120"/>
              </a:rPr>
              <a:t>Menyediakan filter riwayat, ekspor Excel/PDF, dan pengaturan bobot yang dapat disesuaikan</a:t>
            </a:r>
            <a:endParaRPr lang="en-US" sz="1250" dirty="0"/>
          </a:p>
        </p:txBody>
      </p:sp>
      <p:sp>
        <p:nvSpPr>
          <p:cNvPr id="27" name="Text 25"/>
          <p:cNvSpPr/>
          <p:nvPr/>
        </p:nvSpPr>
        <p:spPr>
          <a:xfrm>
            <a:off x="457200" y="6519672"/>
            <a:ext cx="5486400" cy="274320"/>
          </a:xfrm>
          <a:prstGeom prst="rect">
            <a:avLst/>
          </a:prstGeom>
          <a:noFill/>
          <a:ln/>
        </p:spPr>
        <p:txBody>
          <a:bodyPr wrap="square" rtlCol="0" anchor="ctr"/>
          <a:lstStyle/>
          <a:p>
            <a:pPr algn="l" indent="0" marL="0">
              <a:buNone/>
            </a:pPr>
            <a:r>
              <a:rPr lang="en-US" sz="900" dirty="0">
                <a:solidFill>
                  <a:srgbClr val="6E8A8E"/>
                </a:solidFill>
                <a:latin typeface="Calibri" pitchFamily="34" charset="0"/>
                <a:ea typeface="Calibri" pitchFamily="34" charset="-122"/>
                <a:cs typeface="Calibri" pitchFamily="34" charset="-120"/>
              </a:rPr>
              <a:t>SI-PEKA · Sistem Penguji Kelayakan Air</a:t>
            </a:r>
            <a:endParaRPr lang="en-US" sz="900" dirty="0"/>
          </a:p>
        </p:txBody>
      </p:sp>
      <p:sp>
        <p:nvSpPr>
          <p:cNvPr id="28" name="Text 26"/>
          <p:cNvSpPr/>
          <p:nvPr/>
        </p:nvSpPr>
        <p:spPr>
          <a:xfrm>
            <a:off x="11430000" y="6519672"/>
            <a:ext cx="365760" cy="274320"/>
          </a:xfrm>
          <a:prstGeom prst="rect">
            <a:avLst/>
          </a:prstGeom>
          <a:noFill/>
          <a:ln/>
        </p:spPr>
        <p:txBody>
          <a:bodyPr wrap="square" rtlCol="0" anchor="ctr"/>
          <a:lstStyle/>
          <a:p>
            <a:pPr algn="r" indent="0" marL="0">
              <a:buNone/>
            </a:pPr>
            <a:r>
              <a:rPr lang="en-US" sz="900" dirty="0">
                <a:solidFill>
                  <a:srgbClr val="6E8A8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BAB 2 · LANDASAN TEORI</a:t>
            </a:r>
            <a:endParaRPr lang="en-US" sz="1300" dirty="0"/>
          </a:p>
        </p:txBody>
      </p:sp>
      <p:sp>
        <p:nvSpPr>
          <p:cNvPr id="3" name="Text 1"/>
          <p:cNvSpPr/>
          <p:nvPr/>
        </p:nvSpPr>
        <p:spPr>
          <a:xfrm>
            <a:off x="548640" y="658368"/>
            <a:ext cx="10789920" cy="685800"/>
          </a:xfrm>
          <a:prstGeom prst="rect">
            <a:avLst/>
          </a:prstGeom>
          <a:noFill/>
          <a:ln/>
        </p:spPr>
        <p:txBody>
          <a:bodyPr wrap="square" rtlCol="0" anchor="ctr"/>
          <a:lstStyle/>
          <a:p>
            <a:pPr indent="0" marL="0">
              <a:buNone/>
            </a:pPr>
            <a:r>
              <a:rPr lang="en-US" sz="3000" b="1" dirty="0">
                <a:solidFill>
                  <a:srgbClr val="10262B"/>
                </a:solidFill>
                <a:latin typeface="Cambria" pitchFamily="34" charset="0"/>
                <a:ea typeface="Cambria" pitchFamily="34" charset="-122"/>
                <a:cs typeface="Cambria" pitchFamily="34" charset="-120"/>
              </a:rPr>
              <a:t>Metode Weighted Product (WP)</a:t>
            </a:r>
            <a:endParaRPr lang="en-US" sz="3000" dirty="0"/>
          </a:p>
        </p:txBody>
      </p:sp>
      <p:sp>
        <p:nvSpPr>
          <p:cNvPr id="4" name="Text 2"/>
          <p:cNvSpPr/>
          <p:nvPr/>
        </p:nvSpPr>
        <p:spPr>
          <a:xfrm>
            <a:off x="548640" y="1481328"/>
            <a:ext cx="11064240" cy="777240"/>
          </a:xfrm>
          <a:prstGeom prst="rect">
            <a:avLst/>
          </a:prstGeom>
          <a:noFill/>
          <a:ln/>
        </p:spPr>
        <p:txBody>
          <a:bodyPr wrap="square" rtlCol="0" anchor="ctr"/>
          <a:lstStyle/>
          <a:p>
            <a:pPr indent="0" marL="0">
              <a:lnSpc>
                <a:spcPct val="130000"/>
              </a:lnSpc>
              <a:buNone/>
            </a:pPr>
            <a:r>
              <a:rPr lang="en-US" sz="1350" dirty="0">
                <a:solidFill>
                  <a:srgbClr val="3A5257"/>
                </a:solidFill>
                <a:latin typeface="Calibri" pitchFamily="34" charset="0"/>
                <a:ea typeface="Calibri" pitchFamily="34" charset="-122"/>
                <a:cs typeface="Calibri" pitchFamily="34" charset="-120"/>
              </a:rPr>
              <a:t>Metode pengambilan keputusan multi-kriteria yang menggunakan perkalian untuk menghubungkan rating atribut, di mana tiap rating dipangkatkan dengan bobot atributnya. Membedakan kriteria benefit (semakin besar semakin baik) dan cost (semakin kecil semakin baik).</a:t>
            </a:r>
            <a:endParaRPr lang="en-US" sz="1350" dirty="0"/>
          </a:p>
        </p:txBody>
      </p:sp>
      <p:sp>
        <p:nvSpPr>
          <p:cNvPr id="5" name="Shape 3"/>
          <p:cNvSpPr/>
          <p:nvPr/>
        </p:nvSpPr>
        <p:spPr>
          <a:xfrm>
            <a:off x="548640" y="2514600"/>
            <a:ext cx="2697480" cy="3108960"/>
          </a:xfrm>
          <a:prstGeom prst="roundRect">
            <a:avLst>
              <a:gd name="adj" fmla="val 4068"/>
            </a:avLst>
          </a:prstGeom>
          <a:solidFill>
            <a:srgbClr val="F3FAF9"/>
          </a:solidFill>
          <a:ln w="12700">
            <a:solidFill>
              <a:srgbClr val="D7EAE8"/>
            </a:solidFill>
            <a:prstDash val="solid"/>
          </a:ln>
        </p:spPr>
      </p:sp>
      <p:sp>
        <p:nvSpPr>
          <p:cNvPr id="6" name="Shape 4"/>
          <p:cNvSpPr/>
          <p:nvPr/>
        </p:nvSpPr>
        <p:spPr>
          <a:xfrm>
            <a:off x="777240" y="2788920"/>
            <a:ext cx="502920" cy="502920"/>
          </a:xfrm>
          <a:prstGeom prst="ellipse">
            <a:avLst/>
          </a:prstGeom>
          <a:solidFill>
            <a:srgbClr val="028090"/>
          </a:solidFill>
          <a:ln/>
        </p:spPr>
      </p:sp>
      <p:sp>
        <p:nvSpPr>
          <p:cNvPr id="7" name="Text 5"/>
          <p:cNvSpPr/>
          <p:nvPr/>
        </p:nvSpPr>
        <p:spPr>
          <a:xfrm>
            <a:off x="777240" y="2770632"/>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777240" y="3474720"/>
            <a:ext cx="2240280" cy="548640"/>
          </a:xfrm>
          <a:prstGeom prst="rect">
            <a:avLst/>
          </a:prstGeom>
          <a:noFill/>
          <a:ln/>
        </p:spPr>
        <p:txBody>
          <a:bodyPr wrap="square" rtlCol="0" anchor="ctr"/>
          <a:lstStyle/>
          <a:p>
            <a:pPr indent="0" marL="0">
              <a:lnSpc>
                <a:spcPct val="110000"/>
              </a:lnSpc>
              <a:buNone/>
            </a:pPr>
            <a:r>
              <a:rPr lang="en-US" sz="1500" b="1" dirty="0">
                <a:solidFill>
                  <a:srgbClr val="10262B"/>
                </a:solidFill>
                <a:latin typeface="Calibri" pitchFamily="34" charset="0"/>
                <a:ea typeface="Calibri" pitchFamily="34" charset="-122"/>
                <a:cs typeface="Calibri" pitchFamily="34" charset="-120"/>
              </a:rPr>
              <a:t>Normalisasi Bobot</a:t>
            </a:r>
            <a:endParaRPr lang="en-US" sz="1500" dirty="0"/>
          </a:p>
        </p:txBody>
      </p:sp>
      <p:sp>
        <p:nvSpPr>
          <p:cNvPr id="9" name="Text 7"/>
          <p:cNvSpPr/>
          <p:nvPr/>
        </p:nvSpPr>
        <p:spPr>
          <a:xfrm>
            <a:off x="777240" y="4023360"/>
            <a:ext cx="2240280" cy="1463040"/>
          </a:xfrm>
          <a:prstGeom prst="rect">
            <a:avLst/>
          </a:prstGeom>
          <a:noFill/>
          <a:ln/>
        </p:spPr>
        <p:txBody>
          <a:bodyPr wrap="square" rtlCol="0" anchor="ctr"/>
          <a:lstStyle/>
          <a:p>
            <a:pPr indent="0" marL="0">
              <a:lnSpc>
                <a:spcPct val="130000"/>
              </a:lnSpc>
              <a:buNone/>
            </a:pPr>
            <a:r>
              <a:rPr lang="en-US" sz="1200" dirty="0">
                <a:solidFill>
                  <a:srgbClr val="3A5257"/>
                </a:solidFill>
                <a:latin typeface="Calibri" pitchFamily="34" charset="0"/>
                <a:ea typeface="Calibri" pitchFamily="34" charset="-122"/>
                <a:cs typeface="Calibri" pitchFamily="34" charset="-120"/>
              </a:rPr>
              <a:t>Bobot tiap kriteria dinormalisasi hingga total = 1 (∑Wj = 1)</a:t>
            </a:r>
            <a:endParaRPr lang="en-US" sz="1200" dirty="0"/>
          </a:p>
        </p:txBody>
      </p:sp>
      <p:sp>
        <p:nvSpPr>
          <p:cNvPr id="10" name="Text 8"/>
          <p:cNvSpPr/>
          <p:nvPr/>
        </p:nvSpPr>
        <p:spPr>
          <a:xfrm>
            <a:off x="3246120" y="3794760"/>
            <a:ext cx="228600" cy="457200"/>
          </a:xfrm>
          <a:prstGeom prst="rect">
            <a:avLst/>
          </a:prstGeom>
          <a:noFill/>
          <a:ln/>
        </p:spPr>
        <p:txBody>
          <a:bodyPr wrap="square" rtlCol="0" anchor="ctr"/>
          <a:lstStyle/>
          <a:p>
            <a:pPr algn="ctr" indent="0" marL="0">
              <a:buNone/>
            </a:pPr>
            <a:r>
              <a:rPr lang="en-US" sz="2000" dirty="0">
                <a:solidFill>
                  <a:srgbClr val="6E8A8E"/>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3474720" y="2514600"/>
            <a:ext cx="2697480" cy="3108960"/>
          </a:xfrm>
          <a:prstGeom prst="roundRect">
            <a:avLst>
              <a:gd name="adj" fmla="val 4068"/>
            </a:avLst>
          </a:prstGeom>
          <a:solidFill>
            <a:srgbClr val="FFFFFF"/>
          </a:solidFill>
          <a:ln w="12700">
            <a:solidFill>
              <a:srgbClr val="D7EAE8"/>
            </a:solidFill>
            <a:prstDash val="solid"/>
          </a:ln>
        </p:spPr>
      </p:sp>
      <p:sp>
        <p:nvSpPr>
          <p:cNvPr id="12" name="Shape 10"/>
          <p:cNvSpPr/>
          <p:nvPr/>
        </p:nvSpPr>
        <p:spPr>
          <a:xfrm>
            <a:off x="3703320" y="2788920"/>
            <a:ext cx="502920" cy="502920"/>
          </a:xfrm>
          <a:prstGeom prst="ellipse">
            <a:avLst/>
          </a:prstGeom>
          <a:solidFill>
            <a:srgbClr val="028090"/>
          </a:solidFill>
          <a:ln/>
        </p:spPr>
      </p:sp>
      <p:sp>
        <p:nvSpPr>
          <p:cNvPr id="13" name="Text 11"/>
          <p:cNvSpPr/>
          <p:nvPr/>
        </p:nvSpPr>
        <p:spPr>
          <a:xfrm>
            <a:off x="3703320" y="2770632"/>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3703320" y="3474720"/>
            <a:ext cx="2240280" cy="548640"/>
          </a:xfrm>
          <a:prstGeom prst="rect">
            <a:avLst/>
          </a:prstGeom>
          <a:noFill/>
          <a:ln/>
        </p:spPr>
        <p:txBody>
          <a:bodyPr wrap="square" rtlCol="0" anchor="ctr"/>
          <a:lstStyle/>
          <a:p>
            <a:pPr indent="0" marL="0">
              <a:lnSpc>
                <a:spcPct val="110000"/>
              </a:lnSpc>
              <a:buNone/>
            </a:pPr>
            <a:r>
              <a:rPr lang="en-US" sz="1500" b="1" dirty="0">
                <a:solidFill>
                  <a:srgbClr val="10262B"/>
                </a:solidFill>
                <a:latin typeface="Calibri" pitchFamily="34" charset="0"/>
                <a:ea typeface="Calibri" pitchFamily="34" charset="-122"/>
                <a:cs typeface="Calibri" pitchFamily="34" charset="-120"/>
              </a:rPr>
              <a:t>Hitung Vektor S</a:t>
            </a:r>
            <a:endParaRPr lang="en-US" sz="1500" dirty="0"/>
          </a:p>
        </p:txBody>
      </p:sp>
      <p:sp>
        <p:nvSpPr>
          <p:cNvPr id="15" name="Text 13"/>
          <p:cNvSpPr/>
          <p:nvPr/>
        </p:nvSpPr>
        <p:spPr>
          <a:xfrm>
            <a:off x="3703320" y="4023360"/>
            <a:ext cx="2240280" cy="1463040"/>
          </a:xfrm>
          <a:prstGeom prst="rect">
            <a:avLst/>
          </a:prstGeom>
          <a:noFill/>
          <a:ln/>
        </p:spPr>
        <p:txBody>
          <a:bodyPr wrap="square" rtlCol="0" anchor="ctr"/>
          <a:lstStyle/>
          <a:p>
            <a:pPr indent="0" marL="0">
              <a:lnSpc>
                <a:spcPct val="130000"/>
              </a:lnSpc>
              <a:buNone/>
            </a:pPr>
            <a:r>
              <a:rPr lang="en-US" sz="1200" dirty="0">
                <a:solidFill>
                  <a:srgbClr val="3A5257"/>
                </a:solidFill>
                <a:latin typeface="Calibri" pitchFamily="34" charset="0"/>
                <a:ea typeface="Calibri" pitchFamily="34" charset="-122"/>
                <a:cs typeface="Calibri" pitchFamily="34" charset="-120"/>
              </a:rPr>
              <a:t>S_i = ∏ (x_ij) ^ Wj — perkalian nilai kriteria terpangkat bobot</a:t>
            </a:r>
            <a:endParaRPr lang="en-US" sz="1200" dirty="0"/>
          </a:p>
        </p:txBody>
      </p:sp>
      <p:sp>
        <p:nvSpPr>
          <p:cNvPr id="16" name="Text 14"/>
          <p:cNvSpPr/>
          <p:nvPr/>
        </p:nvSpPr>
        <p:spPr>
          <a:xfrm>
            <a:off x="6172200" y="3794760"/>
            <a:ext cx="228600" cy="457200"/>
          </a:xfrm>
          <a:prstGeom prst="rect">
            <a:avLst/>
          </a:prstGeom>
          <a:noFill/>
          <a:ln/>
        </p:spPr>
        <p:txBody>
          <a:bodyPr wrap="square" rtlCol="0" anchor="ctr"/>
          <a:lstStyle/>
          <a:p>
            <a:pPr algn="ctr" indent="0" marL="0">
              <a:buNone/>
            </a:pPr>
            <a:r>
              <a:rPr lang="en-US" sz="2000" dirty="0">
                <a:solidFill>
                  <a:srgbClr val="6E8A8E"/>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6400800" y="2514600"/>
            <a:ext cx="2697480" cy="3108960"/>
          </a:xfrm>
          <a:prstGeom prst="roundRect">
            <a:avLst>
              <a:gd name="adj" fmla="val 4068"/>
            </a:avLst>
          </a:prstGeom>
          <a:solidFill>
            <a:srgbClr val="F3FAF9"/>
          </a:solidFill>
          <a:ln w="12700">
            <a:solidFill>
              <a:srgbClr val="D7EAE8"/>
            </a:solidFill>
            <a:prstDash val="solid"/>
          </a:ln>
        </p:spPr>
      </p:sp>
      <p:sp>
        <p:nvSpPr>
          <p:cNvPr id="18" name="Shape 16"/>
          <p:cNvSpPr/>
          <p:nvPr/>
        </p:nvSpPr>
        <p:spPr>
          <a:xfrm>
            <a:off x="6629400" y="2788920"/>
            <a:ext cx="502920" cy="502920"/>
          </a:xfrm>
          <a:prstGeom prst="ellipse">
            <a:avLst/>
          </a:prstGeom>
          <a:solidFill>
            <a:srgbClr val="028090"/>
          </a:solidFill>
          <a:ln/>
        </p:spPr>
      </p:sp>
      <p:sp>
        <p:nvSpPr>
          <p:cNvPr id="19" name="Text 17"/>
          <p:cNvSpPr/>
          <p:nvPr/>
        </p:nvSpPr>
        <p:spPr>
          <a:xfrm>
            <a:off x="6629400" y="2770632"/>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6629400" y="3474720"/>
            <a:ext cx="2240280" cy="548640"/>
          </a:xfrm>
          <a:prstGeom prst="rect">
            <a:avLst/>
          </a:prstGeom>
          <a:noFill/>
          <a:ln/>
        </p:spPr>
        <p:txBody>
          <a:bodyPr wrap="square" rtlCol="0" anchor="ctr"/>
          <a:lstStyle/>
          <a:p>
            <a:pPr indent="0" marL="0">
              <a:lnSpc>
                <a:spcPct val="110000"/>
              </a:lnSpc>
              <a:buNone/>
            </a:pPr>
            <a:r>
              <a:rPr lang="en-US" sz="1500" b="1" dirty="0">
                <a:solidFill>
                  <a:srgbClr val="10262B"/>
                </a:solidFill>
                <a:latin typeface="Calibri" pitchFamily="34" charset="0"/>
                <a:ea typeface="Calibri" pitchFamily="34" charset="-122"/>
                <a:cs typeface="Calibri" pitchFamily="34" charset="-120"/>
              </a:rPr>
              <a:t>Hitung Vektor V</a:t>
            </a:r>
            <a:endParaRPr lang="en-US" sz="1500" dirty="0"/>
          </a:p>
        </p:txBody>
      </p:sp>
      <p:sp>
        <p:nvSpPr>
          <p:cNvPr id="21" name="Text 19"/>
          <p:cNvSpPr/>
          <p:nvPr/>
        </p:nvSpPr>
        <p:spPr>
          <a:xfrm>
            <a:off x="6629400" y="4023360"/>
            <a:ext cx="2240280" cy="1463040"/>
          </a:xfrm>
          <a:prstGeom prst="rect">
            <a:avLst/>
          </a:prstGeom>
          <a:noFill/>
          <a:ln/>
        </p:spPr>
        <p:txBody>
          <a:bodyPr wrap="square" rtlCol="0" anchor="ctr"/>
          <a:lstStyle/>
          <a:p>
            <a:pPr indent="0" marL="0">
              <a:lnSpc>
                <a:spcPct val="130000"/>
              </a:lnSpc>
              <a:buNone/>
            </a:pPr>
            <a:r>
              <a:rPr lang="en-US" sz="1200" dirty="0">
                <a:solidFill>
                  <a:srgbClr val="3A5257"/>
                </a:solidFill>
                <a:latin typeface="Calibri" pitchFamily="34" charset="0"/>
                <a:ea typeface="Calibri" pitchFamily="34" charset="-122"/>
                <a:cs typeface="Calibri" pitchFamily="34" charset="-120"/>
              </a:rPr>
              <a:t>V_i = S_i / ∑S — nilai akhir ternormalisasi tiap alternatif</a:t>
            </a:r>
            <a:endParaRPr lang="en-US" sz="1200" dirty="0"/>
          </a:p>
        </p:txBody>
      </p:sp>
      <p:sp>
        <p:nvSpPr>
          <p:cNvPr id="22" name="Text 20"/>
          <p:cNvSpPr/>
          <p:nvPr/>
        </p:nvSpPr>
        <p:spPr>
          <a:xfrm>
            <a:off x="9098280" y="3794760"/>
            <a:ext cx="228600" cy="457200"/>
          </a:xfrm>
          <a:prstGeom prst="rect">
            <a:avLst/>
          </a:prstGeom>
          <a:noFill/>
          <a:ln/>
        </p:spPr>
        <p:txBody>
          <a:bodyPr wrap="square" rtlCol="0" anchor="ctr"/>
          <a:lstStyle/>
          <a:p>
            <a:pPr algn="ctr" indent="0" marL="0">
              <a:buNone/>
            </a:pPr>
            <a:r>
              <a:rPr lang="en-US" sz="2000" dirty="0">
                <a:solidFill>
                  <a:srgbClr val="6E8A8E"/>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9326880" y="2514600"/>
            <a:ext cx="2697480" cy="3108960"/>
          </a:xfrm>
          <a:prstGeom prst="roundRect">
            <a:avLst>
              <a:gd name="adj" fmla="val 4068"/>
            </a:avLst>
          </a:prstGeom>
          <a:solidFill>
            <a:srgbClr val="FFFFFF"/>
          </a:solidFill>
          <a:ln w="12700">
            <a:solidFill>
              <a:srgbClr val="D7EAE8"/>
            </a:solidFill>
            <a:prstDash val="solid"/>
          </a:ln>
        </p:spPr>
      </p:sp>
      <p:sp>
        <p:nvSpPr>
          <p:cNvPr id="24" name="Shape 22"/>
          <p:cNvSpPr/>
          <p:nvPr/>
        </p:nvSpPr>
        <p:spPr>
          <a:xfrm>
            <a:off x="9555480" y="2788920"/>
            <a:ext cx="502920" cy="502920"/>
          </a:xfrm>
          <a:prstGeom prst="ellipse">
            <a:avLst/>
          </a:prstGeom>
          <a:solidFill>
            <a:srgbClr val="028090"/>
          </a:solidFill>
          <a:ln/>
        </p:spPr>
      </p:sp>
      <p:sp>
        <p:nvSpPr>
          <p:cNvPr id="25" name="Text 23"/>
          <p:cNvSpPr/>
          <p:nvPr/>
        </p:nvSpPr>
        <p:spPr>
          <a:xfrm>
            <a:off x="9555480" y="2770632"/>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6" name="Text 24"/>
          <p:cNvSpPr/>
          <p:nvPr/>
        </p:nvSpPr>
        <p:spPr>
          <a:xfrm>
            <a:off x="9555480" y="3474720"/>
            <a:ext cx="2240280" cy="548640"/>
          </a:xfrm>
          <a:prstGeom prst="rect">
            <a:avLst/>
          </a:prstGeom>
          <a:noFill/>
          <a:ln/>
        </p:spPr>
        <p:txBody>
          <a:bodyPr wrap="square" rtlCol="0" anchor="ctr"/>
          <a:lstStyle/>
          <a:p>
            <a:pPr indent="0" marL="0">
              <a:lnSpc>
                <a:spcPct val="110000"/>
              </a:lnSpc>
              <a:buNone/>
            </a:pPr>
            <a:r>
              <a:rPr lang="en-US" sz="1500" b="1" dirty="0">
                <a:solidFill>
                  <a:srgbClr val="10262B"/>
                </a:solidFill>
                <a:latin typeface="Calibri" pitchFamily="34" charset="0"/>
                <a:ea typeface="Calibri" pitchFamily="34" charset="-122"/>
                <a:cs typeface="Calibri" pitchFamily="34" charset="-120"/>
              </a:rPr>
              <a:t>Klasifikasi</a:t>
            </a:r>
            <a:endParaRPr lang="en-US" sz="1500" dirty="0"/>
          </a:p>
        </p:txBody>
      </p:sp>
      <p:sp>
        <p:nvSpPr>
          <p:cNvPr id="27" name="Text 25"/>
          <p:cNvSpPr/>
          <p:nvPr/>
        </p:nvSpPr>
        <p:spPr>
          <a:xfrm>
            <a:off x="9555480" y="4023360"/>
            <a:ext cx="2240280" cy="1463040"/>
          </a:xfrm>
          <a:prstGeom prst="rect">
            <a:avLst/>
          </a:prstGeom>
          <a:noFill/>
          <a:ln/>
        </p:spPr>
        <p:txBody>
          <a:bodyPr wrap="square" rtlCol="0" anchor="ctr"/>
          <a:lstStyle/>
          <a:p>
            <a:pPr indent="0" marL="0">
              <a:lnSpc>
                <a:spcPct val="130000"/>
              </a:lnSpc>
              <a:buNone/>
            </a:pPr>
            <a:r>
              <a:rPr lang="en-US" sz="1200" dirty="0">
                <a:solidFill>
                  <a:srgbClr val="3A5257"/>
                </a:solidFill>
                <a:latin typeface="Calibri" pitchFamily="34" charset="0"/>
                <a:ea typeface="Calibri" pitchFamily="34" charset="-122"/>
                <a:cs typeface="Calibri" pitchFamily="34" charset="-120"/>
              </a:rPr>
              <a:t>Alternatif dengan V tertinggi terbaik, atau V dipetakan ke kelas keputusan</a:t>
            </a:r>
            <a:endParaRPr lang="en-US" sz="1200" dirty="0"/>
          </a:p>
        </p:txBody>
      </p:sp>
      <p:sp>
        <p:nvSpPr>
          <p:cNvPr id="28" name="Text 26"/>
          <p:cNvSpPr/>
          <p:nvPr/>
        </p:nvSpPr>
        <p:spPr>
          <a:xfrm>
            <a:off x="548640" y="5806440"/>
            <a:ext cx="11064240" cy="457200"/>
          </a:xfrm>
          <a:prstGeom prst="rect">
            <a:avLst/>
          </a:prstGeom>
          <a:noFill/>
          <a:ln/>
        </p:spPr>
        <p:txBody>
          <a:bodyPr wrap="square" rtlCol="0" anchor="ctr"/>
          <a:lstStyle/>
          <a:p>
            <a:pPr indent="0" marL="0">
              <a:buNone/>
            </a:pPr>
            <a:r>
              <a:rPr lang="en-US" sz="1150" i="1" dirty="0">
                <a:solidFill>
                  <a:srgbClr val="6E8A8E"/>
                </a:solidFill>
                <a:latin typeface="Calibri" pitchFamily="34" charset="0"/>
                <a:ea typeface="Calibri" pitchFamily="34" charset="-122"/>
                <a:cs typeface="Calibri" pitchFamily="34" charset="-120"/>
              </a:rPr>
              <a:t>Sistem bekerja pada satu sampel sekaligus, sehingga Vektor S dibandingkan langsung terhadap kondisi ideal (S_ideal = 1) tanpa pembagian terhadap total S seluruh alternatif.</a:t>
            </a:r>
            <a:endParaRPr lang="en-US" sz="1150" dirty="0"/>
          </a:p>
        </p:txBody>
      </p:sp>
      <p:sp>
        <p:nvSpPr>
          <p:cNvPr id="29" name="Text 27"/>
          <p:cNvSpPr/>
          <p:nvPr/>
        </p:nvSpPr>
        <p:spPr>
          <a:xfrm>
            <a:off x="457200" y="6519672"/>
            <a:ext cx="5486400" cy="274320"/>
          </a:xfrm>
          <a:prstGeom prst="rect">
            <a:avLst/>
          </a:prstGeom>
          <a:noFill/>
          <a:ln/>
        </p:spPr>
        <p:txBody>
          <a:bodyPr wrap="square" rtlCol="0" anchor="ctr"/>
          <a:lstStyle/>
          <a:p>
            <a:pPr algn="l" indent="0" marL="0">
              <a:buNone/>
            </a:pPr>
            <a:r>
              <a:rPr lang="en-US" sz="900" dirty="0">
                <a:solidFill>
                  <a:srgbClr val="6E8A8E"/>
                </a:solidFill>
                <a:latin typeface="Calibri" pitchFamily="34" charset="0"/>
                <a:ea typeface="Calibri" pitchFamily="34" charset="-122"/>
                <a:cs typeface="Calibri" pitchFamily="34" charset="-120"/>
              </a:rPr>
              <a:t>SI-PEKA · Sistem Penguji Kelayakan Air</a:t>
            </a:r>
            <a:endParaRPr lang="en-US" sz="900" dirty="0"/>
          </a:p>
        </p:txBody>
      </p:sp>
      <p:sp>
        <p:nvSpPr>
          <p:cNvPr id="30" name="Text 28"/>
          <p:cNvSpPr/>
          <p:nvPr/>
        </p:nvSpPr>
        <p:spPr>
          <a:xfrm>
            <a:off x="11430000" y="6519672"/>
            <a:ext cx="365760" cy="274320"/>
          </a:xfrm>
          <a:prstGeom prst="rect">
            <a:avLst/>
          </a:prstGeom>
          <a:noFill/>
          <a:ln/>
        </p:spPr>
        <p:txBody>
          <a:bodyPr wrap="square" rtlCol="0" anchor="ctr"/>
          <a:lstStyle/>
          <a:p>
            <a:pPr algn="r" indent="0" marL="0">
              <a:buNone/>
            </a:pPr>
            <a:r>
              <a:rPr lang="en-US" sz="900" dirty="0">
                <a:solidFill>
                  <a:srgbClr val="6E8A8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BAB 2 · LANDASAN TEORI</a:t>
            </a:r>
            <a:endParaRPr lang="en-US" sz="1300" dirty="0"/>
          </a:p>
        </p:txBody>
      </p:sp>
      <p:sp>
        <p:nvSpPr>
          <p:cNvPr id="3" name="Text 1"/>
          <p:cNvSpPr/>
          <p:nvPr/>
        </p:nvSpPr>
        <p:spPr>
          <a:xfrm>
            <a:off x="548640" y="658368"/>
            <a:ext cx="10789920" cy="685800"/>
          </a:xfrm>
          <a:prstGeom prst="rect">
            <a:avLst/>
          </a:prstGeom>
          <a:noFill/>
          <a:ln/>
        </p:spPr>
        <p:txBody>
          <a:bodyPr wrap="square" rtlCol="0" anchor="ctr"/>
          <a:lstStyle/>
          <a:p>
            <a:pPr indent="0" marL="0">
              <a:buNone/>
            </a:pPr>
            <a:r>
              <a:rPr lang="en-US" sz="3000" b="1" dirty="0">
                <a:solidFill>
                  <a:srgbClr val="10262B"/>
                </a:solidFill>
                <a:latin typeface="Cambria" pitchFamily="34" charset="0"/>
                <a:ea typeface="Cambria" pitchFamily="34" charset="-122"/>
                <a:cs typeface="Cambria" pitchFamily="34" charset="-120"/>
              </a:rPr>
              <a:t>Parameter Kualitas Air</a:t>
            </a:r>
            <a:endParaRPr lang="en-US" sz="3000" dirty="0"/>
          </a:p>
        </p:txBody>
      </p:sp>
      <p:sp>
        <p:nvSpPr>
          <p:cNvPr id="4" name="Text 2"/>
          <p:cNvSpPr/>
          <p:nvPr/>
        </p:nvSpPr>
        <p:spPr>
          <a:xfrm>
            <a:off x="548640" y="1417320"/>
            <a:ext cx="10058400" cy="320040"/>
          </a:xfrm>
          <a:prstGeom prst="rect">
            <a:avLst/>
          </a:prstGeom>
          <a:noFill/>
          <a:ln/>
        </p:spPr>
        <p:txBody>
          <a:bodyPr wrap="square" rtlCol="0" anchor="ctr"/>
          <a:lstStyle/>
          <a:p>
            <a:pPr indent="0" marL="0">
              <a:buNone/>
            </a:pPr>
            <a:r>
              <a:rPr lang="en-US" sz="1300" i="1" dirty="0">
                <a:solidFill>
                  <a:srgbClr val="6E8A8E"/>
                </a:solidFill>
                <a:latin typeface="Calibri" pitchFamily="34" charset="0"/>
                <a:ea typeface="Calibri" pitchFamily="34" charset="-122"/>
                <a:cs typeface="Calibri" pitchFamily="34" charset="-120"/>
              </a:rPr>
              <a:t>Mengacu pada baku mutu air minum menurut Permenkes No. 2 Tahun 2023</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2743200"/>
        </p:xfrm>
        <a:graphic>
          <a:graphicData uri="http://schemas.openxmlformats.org/drawingml/2006/table">
            <a:tbl>
              <a:tblPr/>
              <a:tblGrid>
                <a:gridCol w="3108960"/>
                <a:gridCol w="2377440"/>
                <a:gridCol w="2286000"/>
                <a:gridCol w="3291840"/>
              </a:tblGrid>
              <a:tr h="6858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Parameter</a:t>
                      </a:r>
                      <a:endParaRPr lang="en-US" sz="125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solidFill>
                      <a:srgbClr val="045C63"/>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Sifat Kriteria</a:t>
                      </a:r>
                      <a:endParaRPr lang="en-US" sz="125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solidFill>
                      <a:srgbClr val="045C63"/>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Batas Baku Mutu</a:t>
                      </a:r>
                      <a:endParaRPr lang="en-US" sz="125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solidFill>
                      <a:srgbClr val="045C63"/>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Keterangan</a:t>
                      </a:r>
                      <a:endParaRPr lang="en-US" sz="125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solidFill>
                      <a:srgbClr val="045C63"/>
                    </a:solidFill>
                  </a:tcPr>
                </a:tc>
              </a:tr>
              <a:tr h="685800">
                <a:tc>
                  <a:txBody>
                    <a:bodyPr/>
                    <a:lstStyle/>
                    <a:p>
                      <a:pPr indent="0" marL="0">
                        <a:buNone/>
                      </a:pPr>
                      <a:r>
                        <a:rPr lang="en-US" sz="1250" b="1" dirty="0">
                          <a:solidFill>
                            <a:srgbClr val="3A5257"/>
                          </a:solidFill>
                          <a:latin typeface="Calibri" pitchFamily="34" charset="0"/>
                          <a:ea typeface="Calibri" pitchFamily="34" charset="-122"/>
                          <a:cs typeface="Calibri" pitchFamily="34" charset="-120"/>
                        </a:rPr>
                        <a:t>pH</a:t>
                      </a:r>
                      <a:endParaRPr lang="en-US" sz="125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50" dirty="0">
                          <a:solidFill>
                            <a:srgbClr val="3A5257"/>
                          </a:solidFill>
                          <a:latin typeface="Calibri" pitchFamily="34" charset="0"/>
                          <a:ea typeface="Calibri" pitchFamily="34" charset="-122"/>
                          <a:cs typeface="Calibri" pitchFamily="34" charset="-120"/>
                        </a:rPr>
                        <a:t>Benefit (target tengah)</a:t>
                      </a:r>
                      <a:endParaRPr lang="en-US" sz="125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50" dirty="0">
                          <a:solidFill>
                            <a:srgbClr val="3A5257"/>
                          </a:solidFill>
                          <a:latin typeface="Calibri" pitchFamily="34" charset="0"/>
                          <a:ea typeface="Calibri" pitchFamily="34" charset="-122"/>
                          <a:cs typeface="Calibri" pitchFamily="34" charset="-120"/>
                        </a:rPr>
                        <a:t>Ideal = 7 (netral)</a:t>
                      </a:r>
                      <a:endParaRPr lang="en-US" sz="125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50" dirty="0">
                          <a:solidFill>
                            <a:srgbClr val="3A5257"/>
                          </a:solidFill>
                          <a:latin typeface="Calibri" pitchFamily="34" charset="0"/>
                          <a:ea typeface="Calibri" pitchFamily="34" charset="-122"/>
                          <a:cs typeface="Calibri" pitchFamily="34" charset="-120"/>
                        </a:rPr>
                        <a:t>Skor tertinggi saat pH mendekati 7; menurun seiring jarak dari 7</a:t>
                      </a:r>
                      <a:endParaRPr lang="en-US" sz="125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r>
              <a:tr h="685800">
                <a:tc>
                  <a:txBody>
                    <a:bodyPr/>
                    <a:lstStyle/>
                    <a:p>
                      <a:pPr indent="0" marL="0">
                        <a:buNone/>
                      </a:pPr>
                      <a:r>
                        <a:rPr lang="en-US" sz="1250" b="1" dirty="0">
                          <a:solidFill>
                            <a:srgbClr val="3A5257"/>
                          </a:solidFill>
                          <a:latin typeface="Calibri" pitchFamily="34" charset="0"/>
                          <a:ea typeface="Calibri" pitchFamily="34" charset="-122"/>
                          <a:cs typeface="Calibri" pitchFamily="34" charset="-120"/>
                        </a:rPr>
                        <a:t>TDS (Total Dissolved Solids)</a:t>
                      </a:r>
                      <a:endParaRPr lang="en-US" sz="125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50" dirty="0">
                          <a:solidFill>
                            <a:srgbClr val="3A5257"/>
                          </a:solidFill>
                          <a:latin typeface="Calibri" pitchFamily="34" charset="0"/>
                          <a:ea typeface="Calibri" pitchFamily="34" charset="-122"/>
                          <a:cs typeface="Calibri" pitchFamily="34" charset="-120"/>
                        </a:rPr>
                        <a:t>Cost</a:t>
                      </a:r>
                      <a:endParaRPr lang="en-US" sz="125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50" dirty="0">
                          <a:solidFill>
                            <a:srgbClr val="3A5257"/>
                          </a:solidFill>
                          <a:latin typeface="Calibri" pitchFamily="34" charset="0"/>
                          <a:ea typeface="Calibri" pitchFamily="34" charset="-122"/>
                          <a:cs typeface="Calibri" pitchFamily="34" charset="-120"/>
                        </a:rPr>
                        <a:t>Maksimum 300 ppm</a:t>
                      </a:r>
                      <a:endParaRPr lang="en-US" sz="125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50" dirty="0">
                          <a:solidFill>
                            <a:srgbClr val="3A5257"/>
                          </a:solidFill>
                          <a:latin typeface="Calibri" pitchFamily="34" charset="0"/>
                          <a:ea typeface="Calibri" pitchFamily="34" charset="-122"/>
                          <a:cs typeface="Calibri" pitchFamily="34" charset="-120"/>
                        </a:rPr>
                        <a:t>Semakin rendah kadar padatan terlarut, semakin baik</a:t>
                      </a:r>
                      <a:endParaRPr lang="en-US" sz="125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r>
              <a:tr h="685800">
                <a:tc>
                  <a:txBody>
                    <a:bodyPr/>
                    <a:lstStyle/>
                    <a:p>
                      <a:pPr indent="0" marL="0">
                        <a:buNone/>
                      </a:pPr>
                      <a:r>
                        <a:rPr lang="en-US" sz="1250" b="1" dirty="0">
                          <a:solidFill>
                            <a:srgbClr val="3A5257"/>
                          </a:solidFill>
                          <a:latin typeface="Calibri" pitchFamily="34" charset="0"/>
                          <a:ea typeface="Calibri" pitchFamily="34" charset="-122"/>
                          <a:cs typeface="Calibri" pitchFamily="34" charset="-120"/>
                        </a:rPr>
                        <a:t>Turbidity (Kekeruhan)</a:t>
                      </a:r>
                      <a:endParaRPr lang="en-US" sz="125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50" dirty="0">
                          <a:solidFill>
                            <a:srgbClr val="3A5257"/>
                          </a:solidFill>
                          <a:latin typeface="Calibri" pitchFamily="34" charset="0"/>
                          <a:ea typeface="Calibri" pitchFamily="34" charset="-122"/>
                          <a:cs typeface="Calibri" pitchFamily="34" charset="-120"/>
                        </a:rPr>
                        <a:t>Cost</a:t>
                      </a:r>
                      <a:endParaRPr lang="en-US" sz="125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50" dirty="0">
                          <a:solidFill>
                            <a:srgbClr val="3A5257"/>
                          </a:solidFill>
                          <a:latin typeface="Calibri" pitchFamily="34" charset="0"/>
                          <a:ea typeface="Calibri" pitchFamily="34" charset="-122"/>
                          <a:cs typeface="Calibri" pitchFamily="34" charset="-120"/>
                        </a:rPr>
                        <a:t>Maksimum 3 NTU</a:t>
                      </a:r>
                      <a:endParaRPr lang="en-US" sz="125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50" dirty="0">
                          <a:solidFill>
                            <a:srgbClr val="3A5257"/>
                          </a:solidFill>
                          <a:latin typeface="Calibri" pitchFamily="34" charset="0"/>
                          <a:ea typeface="Calibri" pitchFamily="34" charset="-122"/>
                          <a:cs typeface="Calibri" pitchFamily="34" charset="-120"/>
                        </a:rPr>
                        <a:t>Semakin rendah tingkat kekeruhan, semakin baik</a:t>
                      </a:r>
                      <a:endParaRPr lang="en-US" sz="125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r>
            </a:tbl>
          </a:graphicData>
        </a:graphic>
      </p:graphicFrame>
      <p:sp>
        <p:nvSpPr>
          <p:cNvPr id="6" name="Shape 3"/>
          <p:cNvSpPr/>
          <p:nvPr/>
        </p:nvSpPr>
        <p:spPr>
          <a:xfrm>
            <a:off x="548640" y="5029200"/>
            <a:ext cx="3383280" cy="1051560"/>
          </a:xfrm>
          <a:prstGeom prst="roundRect">
            <a:avLst>
              <a:gd name="adj" fmla="val 8696"/>
            </a:avLst>
          </a:prstGeom>
          <a:solidFill>
            <a:srgbClr val="EAF6F5"/>
          </a:solidFill>
          <a:ln/>
        </p:spPr>
      </p:sp>
      <p:sp>
        <p:nvSpPr>
          <p:cNvPr id="7" name="Text 4"/>
          <p:cNvSpPr/>
          <p:nvPr/>
        </p:nvSpPr>
        <p:spPr>
          <a:xfrm>
            <a:off x="731520" y="5120640"/>
            <a:ext cx="3017520" cy="274320"/>
          </a:xfrm>
          <a:prstGeom prst="rect">
            <a:avLst/>
          </a:prstGeom>
          <a:noFill/>
          <a:ln/>
        </p:spPr>
        <p:txBody>
          <a:bodyPr wrap="square" rtlCol="0" anchor="ctr"/>
          <a:lstStyle/>
          <a:p>
            <a:pPr indent="0" marL="0">
              <a:buNone/>
            </a:pPr>
            <a:r>
              <a:rPr lang="en-US" sz="1150" b="1" dirty="0">
                <a:solidFill>
                  <a:srgbClr val="045C63"/>
                </a:solidFill>
                <a:latin typeface="Calibri" pitchFamily="34" charset="0"/>
                <a:ea typeface="Calibri" pitchFamily="34" charset="-122"/>
                <a:cs typeface="Calibri" pitchFamily="34" charset="-120"/>
              </a:rPr>
              <a:t>Normalisasi pH</a:t>
            </a:r>
            <a:endParaRPr lang="en-US" sz="1150" dirty="0"/>
          </a:p>
        </p:txBody>
      </p:sp>
      <p:sp>
        <p:nvSpPr>
          <p:cNvPr id="8" name="Text 5"/>
          <p:cNvSpPr/>
          <p:nvPr/>
        </p:nvSpPr>
        <p:spPr>
          <a:xfrm>
            <a:off x="731520" y="5413248"/>
            <a:ext cx="3017520" cy="594360"/>
          </a:xfrm>
          <a:prstGeom prst="rect">
            <a:avLst/>
          </a:prstGeom>
          <a:noFill/>
          <a:ln/>
        </p:spPr>
        <p:txBody>
          <a:bodyPr wrap="square" rtlCol="0" anchor="ctr"/>
          <a:lstStyle/>
          <a:p>
            <a:pPr indent="0" marL="0">
              <a:lnSpc>
                <a:spcPct val="120000"/>
              </a:lnSpc>
              <a:buNone/>
            </a:pPr>
            <a:r>
              <a:rPr lang="en-US" sz="1100" dirty="0">
                <a:solidFill>
                  <a:srgbClr val="3A5257"/>
                </a:solidFill>
                <a:latin typeface="Courier New" pitchFamily="34" charset="0"/>
                <a:ea typeface="Courier New" pitchFamily="34" charset="-122"/>
                <a:cs typeface="Courier New" pitchFamily="34" charset="-120"/>
              </a:rPr>
              <a:t>skor = 1 − |ph − 7| / 7</a:t>
            </a:r>
            <a:endParaRPr lang="en-US" sz="1100" dirty="0"/>
          </a:p>
        </p:txBody>
      </p:sp>
      <p:sp>
        <p:nvSpPr>
          <p:cNvPr id="9" name="Shape 6"/>
          <p:cNvSpPr/>
          <p:nvPr/>
        </p:nvSpPr>
        <p:spPr>
          <a:xfrm>
            <a:off x="4069080" y="5029200"/>
            <a:ext cx="3383280" cy="1051560"/>
          </a:xfrm>
          <a:prstGeom prst="roundRect">
            <a:avLst>
              <a:gd name="adj" fmla="val 8696"/>
            </a:avLst>
          </a:prstGeom>
          <a:solidFill>
            <a:srgbClr val="EAF6F5"/>
          </a:solidFill>
          <a:ln/>
        </p:spPr>
      </p:sp>
      <p:sp>
        <p:nvSpPr>
          <p:cNvPr id="10" name="Text 7"/>
          <p:cNvSpPr/>
          <p:nvPr/>
        </p:nvSpPr>
        <p:spPr>
          <a:xfrm>
            <a:off x="4251960" y="5120640"/>
            <a:ext cx="3017520" cy="274320"/>
          </a:xfrm>
          <a:prstGeom prst="rect">
            <a:avLst/>
          </a:prstGeom>
          <a:noFill/>
          <a:ln/>
        </p:spPr>
        <p:txBody>
          <a:bodyPr wrap="square" rtlCol="0" anchor="ctr"/>
          <a:lstStyle/>
          <a:p>
            <a:pPr indent="0" marL="0">
              <a:buNone/>
            </a:pPr>
            <a:r>
              <a:rPr lang="en-US" sz="1150" b="1" dirty="0">
                <a:solidFill>
                  <a:srgbClr val="045C63"/>
                </a:solidFill>
                <a:latin typeface="Calibri" pitchFamily="34" charset="0"/>
                <a:ea typeface="Calibri" pitchFamily="34" charset="-122"/>
                <a:cs typeface="Calibri" pitchFamily="34" charset="-120"/>
              </a:rPr>
              <a:t>Normalisasi Cost</a:t>
            </a:r>
            <a:endParaRPr lang="en-US" sz="1150" dirty="0"/>
          </a:p>
        </p:txBody>
      </p:sp>
      <p:sp>
        <p:nvSpPr>
          <p:cNvPr id="11" name="Text 8"/>
          <p:cNvSpPr/>
          <p:nvPr/>
        </p:nvSpPr>
        <p:spPr>
          <a:xfrm>
            <a:off x="4251960" y="5413248"/>
            <a:ext cx="3017520" cy="594360"/>
          </a:xfrm>
          <a:prstGeom prst="rect">
            <a:avLst/>
          </a:prstGeom>
          <a:noFill/>
          <a:ln/>
        </p:spPr>
        <p:txBody>
          <a:bodyPr wrap="square" rtlCol="0" anchor="ctr"/>
          <a:lstStyle/>
          <a:p>
            <a:pPr indent="0" marL="0">
              <a:lnSpc>
                <a:spcPct val="120000"/>
              </a:lnSpc>
              <a:buNone/>
            </a:pPr>
            <a:r>
              <a:rPr lang="en-US" sz="1100" dirty="0">
                <a:solidFill>
                  <a:srgbClr val="3A5257"/>
                </a:solidFill>
                <a:latin typeface="Courier New" pitchFamily="34" charset="0"/>
                <a:ea typeface="Courier New" pitchFamily="34" charset="-122"/>
                <a:cs typeface="Courier New" pitchFamily="34" charset="-120"/>
              </a:rPr>
              <a:t>skor = (max − v) / max</a:t>
            </a:r>
            <a:endParaRPr lang="en-US" sz="1100" dirty="0"/>
          </a:p>
        </p:txBody>
      </p:sp>
      <p:sp>
        <p:nvSpPr>
          <p:cNvPr id="12" name="Shape 9"/>
          <p:cNvSpPr/>
          <p:nvPr/>
        </p:nvSpPr>
        <p:spPr>
          <a:xfrm>
            <a:off x="7589520" y="5029200"/>
            <a:ext cx="4297680" cy="1051560"/>
          </a:xfrm>
          <a:prstGeom prst="roundRect">
            <a:avLst>
              <a:gd name="adj" fmla="val 8696"/>
            </a:avLst>
          </a:prstGeom>
          <a:solidFill>
            <a:srgbClr val="EAF6F5"/>
          </a:solidFill>
          <a:ln/>
        </p:spPr>
      </p:sp>
      <p:sp>
        <p:nvSpPr>
          <p:cNvPr id="13" name="Text 10"/>
          <p:cNvSpPr/>
          <p:nvPr/>
        </p:nvSpPr>
        <p:spPr>
          <a:xfrm>
            <a:off x="7772400" y="5120640"/>
            <a:ext cx="3931920" cy="274320"/>
          </a:xfrm>
          <a:prstGeom prst="rect">
            <a:avLst/>
          </a:prstGeom>
          <a:noFill/>
          <a:ln/>
        </p:spPr>
        <p:txBody>
          <a:bodyPr wrap="square" rtlCol="0" anchor="ctr"/>
          <a:lstStyle/>
          <a:p>
            <a:pPr indent="0" marL="0">
              <a:buNone/>
            </a:pPr>
            <a:r>
              <a:rPr lang="en-US" sz="1150" b="1" dirty="0">
                <a:solidFill>
                  <a:srgbClr val="045C63"/>
                </a:solidFill>
                <a:latin typeface="Calibri" pitchFamily="34" charset="0"/>
                <a:ea typeface="Calibri" pitchFamily="34" charset="-122"/>
                <a:cs typeface="Calibri" pitchFamily="34" charset="-120"/>
              </a:rPr>
              <a:t>Klasifikasi</a:t>
            </a:r>
            <a:endParaRPr lang="en-US" sz="1150" dirty="0"/>
          </a:p>
        </p:txBody>
      </p:sp>
      <p:sp>
        <p:nvSpPr>
          <p:cNvPr id="14" name="Text 11"/>
          <p:cNvSpPr/>
          <p:nvPr/>
        </p:nvSpPr>
        <p:spPr>
          <a:xfrm>
            <a:off x="7772400" y="5413248"/>
            <a:ext cx="3931920" cy="594360"/>
          </a:xfrm>
          <a:prstGeom prst="rect">
            <a:avLst/>
          </a:prstGeom>
          <a:noFill/>
          <a:ln/>
        </p:spPr>
        <p:txBody>
          <a:bodyPr wrap="square" rtlCol="0" anchor="ctr"/>
          <a:lstStyle/>
          <a:p>
            <a:pPr indent="0" marL="0">
              <a:lnSpc>
                <a:spcPct val="120000"/>
              </a:lnSpc>
              <a:buNone/>
            </a:pPr>
            <a:r>
              <a:rPr lang="en-US" sz="1100" dirty="0">
                <a:solidFill>
                  <a:srgbClr val="3A5257"/>
                </a:solidFill>
                <a:latin typeface="Courier New" pitchFamily="34" charset="0"/>
                <a:ea typeface="Courier New" pitchFamily="34" charset="-122"/>
                <a:cs typeface="Courier New" pitchFamily="34" charset="-120"/>
              </a:rPr>
              <a:t>V ≥ 0.7 Layak · 0.4–0.7 Waspada · &lt; 0.4 Tidak Layak</a:t>
            </a:r>
            <a:endParaRPr lang="en-US" sz="1100" dirty="0"/>
          </a:p>
        </p:txBody>
      </p:sp>
      <p:sp>
        <p:nvSpPr>
          <p:cNvPr id="15" name="Text 12"/>
          <p:cNvSpPr/>
          <p:nvPr/>
        </p:nvSpPr>
        <p:spPr>
          <a:xfrm>
            <a:off x="457200" y="6519672"/>
            <a:ext cx="5486400" cy="274320"/>
          </a:xfrm>
          <a:prstGeom prst="rect">
            <a:avLst/>
          </a:prstGeom>
          <a:noFill/>
          <a:ln/>
        </p:spPr>
        <p:txBody>
          <a:bodyPr wrap="square" rtlCol="0" anchor="ctr"/>
          <a:lstStyle/>
          <a:p>
            <a:pPr algn="l" indent="0" marL="0">
              <a:buNone/>
            </a:pPr>
            <a:r>
              <a:rPr lang="en-US" sz="900" dirty="0">
                <a:solidFill>
                  <a:srgbClr val="6E8A8E"/>
                </a:solidFill>
                <a:latin typeface="Calibri" pitchFamily="34" charset="0"/>
                <a:ea typeface="Calibri" pitchFamily="34" charset="-122"/>
                <a:cs typeface="Calibri" pitchFamily="34" charset="-120"/>
              </a:rPr>
              <a:t>SI-PEKA · Sistem Penguji Kelayakan Air</a:t>
            </a:r>
            <a:endParaRPr lang="en-US" sz="900" dirty="0"/>
          </a:p>
        </p:txBody>
      </p:sp>
      <p:sp>
        <p:nvSpPr>
          <p:cNvPr id="16" name="Text 13"/>
          <p:cNvSpPr/>
          <p:nvPr/>
        </p:nvSpPr>
        <p:spPr>
          <a:xfrm>
            <a:off x="11430000" y="6519672"/>
            <a:ext cx="365760" cy="274320"/>
          </a:xfrm>
          <a:prstGeom prst="rect">
            <a:avLst/>
          </a:prstGeom>
          <a:noFill/>
          <a:ln/>
        </p:spPr>
        <p:txBody>
          <a:bodyPr wrap="square" rtlCol="0" anchor="ctr"/>
          <a:lstStyle/>
          <a:p>
            <a:pPr algn="r" indent="0" marL="0">
              <a:buNone/>
            </a:pPr>
            <a:r>
              <a:rPr lang="en-US" sz="900" dirty="0">
                <a:solidFill>
                  <a:srgbClr val="6E8A8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BAB 3 · PERANCANGAN SISTEM</a:t>
            </a:r>
            <a:endParaRPr lang="en-US" sz="1300" dirty="0"/>
          </a:p>
        </p:txBody>
      </p:sp>
      <p:sp>
        <p:nvSpPr>
          <p:cNvPr id="3" name="Text 1"/>
          <p:cNvSpPr/>
          <p:nvPr/>
        </p:nvSpPr>
        <p:spPr>
          <a:xfrm>
            <a:off x="548640" y="658368"/>
            <a:ext cx="10789920" cy="685800"/>
          </a:xfrm>
          <a:prstGeom prst="rect">
            <a:avLst/>
          </a:prstGeom>
          <a:noFill/>
          <a:ln/>
        </p:spPr>
        <p:txBody>
          <a:bodyPr wrap="square" rtlCol="0" anchor="ctr"/>
          <a:lstStyle/>
          <a:p>
            <a:pPr indent="0" marL="0">
              <a:buNone/>
            </a:pPr>
            <a:r>
              <a:rPr lang="en-US" sz="3000" b="1" dirty="0">
                <a:solidFill>
                  <a:srgbClr val="10262B"/>
                </a:solidFill>
                <a:latin typeface="Cambria" pitchFamily="34" charset="0"/>
                <a:ea typeface="Cambria" pitchFamily="34" charset="-122"/>
                <a:cs typeface="Cambria" pitchFamily="34" charset="-120"/>
              </a:rPr>
              <a:t>Arsitektur Aplikasi Tiga Lapis</a:t>
            </a:r>
            <a:endParaRPr lang="en-US" sz="3000" dirty="0"/>
          </a:p>
        </p:txBody>
      </p:sp>
      <p:sp>
        <p:nvSpPr>
          <p:cNvPr id="4" name="Shape 2"/>
          <p:cNvSpPr/>
          <p:nvPr/>
        </p:nvSpPr>
        <p:spPr>
          <a:xfrm>
            <a:off x="548640" y="1600200"/>
            <a:ext cx="11064240" cy="1133856"/>
          </a:xfrm>
          <a:prstGeom prst="roundRect">
            <a:avLst>
              <a:gd name="adj" fmla="val 8065"/>
            </a:avLst>
          </a:prstGeom>
          <a:solidFill>
            <a:srgbClr val="FFFFFF"/>
          </a:solidFill>
          <a:ln w="12700">
            <a:solidFill>
              <a:srgbClr val="D7EAE8"/>
            </a:solidFill>
            <a:prstDash val="solid"/>
          </a:ln>
        </p:spPr>
      </p:sp>
      <p:sp>
        <p:nvSpPr>
          <p:cNvPr id="5" name="Shape 3"/>
          <p:cNvSpPr/>
          <p:nvPr/>
        </p:nvSpPr>
        <p:spPr>
          <a:xfrm>
            <a:off x="868680" y="1856232"/>
            <a:ext cx="621792" cy="621792"/>
          </a:xfrm>
          <a:prstGeom prst="ellipse">
            <a:avLst/>
          </a:prstGeom>
          <a:solidFill>
            <a:srgbClr val="028090"/>
          </a:solidFill>
          <a:ln/>
        </p:spPr>
      </p:sp>
      <p:sp>
        <p:nvSpPr>
          <p:cNvPr id="6" name="Text 4"/>
          <p:cNvSpPr/>
          <p:nvPr/>
        </p:nvSpPr>
        <p:spPr>
          <a:xfrm>
            <a:off x="868680" y="1837944"/>
            <a:ext cx="621792" cy="621792"/>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691640" y="1728216"/>
            <a:ext cx="2834640" cy="320040"/>
          </a:xfrm>
          <a:prstGeom prst="rect">
            <a:avLst/>
          </a:prstGeom>
          <a:noFill/>
          <a:ln/>
        </p:spPr>
        <p:txBody>
          <a:bodyPr wrap="square" rtlCol="0" anchor="ctr"/>
          <a:lstStyle/>
          <a:p>
            <a:pPr indent="0" marL="0">
              <a:buNone/>
            </a:pPr>
            <a:r>
              <a:rPr lang="en-US" sz="1400" b="1" dirty="0">
                <a:solidFill>
                  <a:srgbClr val="10262B"/>
                </a:solidFill>
                <a:latin typeface="Calibri" pitchFamily="34" charset="0"/>
                <a:ea typeface="Calibri" pitchFamily="34" charset="-122"/>
                <a:cs typeface="Calibri" pitchFamily="34" charset="-120"/>
              </a:rPr>
              <a:t>PRESENTATION</a:t>
            </a:r>
            <a:endParaRPr lang="en-US" sz="1400" dirty="0"/>
          </a:p>
        </p:txBody>
      </p:sp>
      <p:sp>
        <p:nvSpPr>
          <p:cNvPr id="8" name="Text 6"/>
          <p:cNvSpPr/>
          <p:nvPr/>
        </p:nvSpPr>
        <p:spPr>
          <a:xfrm>
            <a:off x="1691640" y="2057400"/>
            <a:ext cx="2834640" cy="320040"/>
          </a:xfrm>
          <a:prstGeom prst="rect">
            <a:avLst/>
          </a:prstGeom>
          <a:noFill/>
          <a:ln/>
        </p:spPr>
        <p:txBody>
          <a:bodyPr wrap="square" rtlCol="0" anchor="ctr"/>
          <a:lstStyle/>
          <a:p>
            <a:pPr indent="0" marL="0">
              <a:buNone/>
            </a:pPr>
            <a:r>
              <a:rPr lang="en-US" sz="1150" b="1" dirty="0">
                <a:solidFill>
                  <a:srgbClr val="028090"/>
                </a:solidFill>
                <a:latin typeface="Courier New" pitchFamily="34" charset="0"/>
                <a:ea typeface="Courier New" pitchFamily="34" charset="-122"/>
                <a:cs typeface="Courier New" pitchFamily="34" charset="-120"/>
              </a:rPr>
              <a:t>index.html · style.css</a:t>
            </a:r>
            <a:endParaRPr lang="en-US" sz="1150" dirty="0"/>
          </a:p>
        </p:txBody>
      </p:sp>
      <p:sp>
        <p:nvSpPr>
          <p:cNvPr id="9" name="Text 7"/>
          <p:cNvSpPr/>
          <p:nvPr/>
        </p:nvSpPr>
        <p:spPr>
          <a:xfrm>
            <a:off x="4663440" y="1728216"/>
            <a:ext cx="6766560" cy="859536"/>
          </a:xfrm>
          <a:prstGeom prst="rect">
            <a:avLst/>
          </a:prstGeom>
          <a:noFill/>
          <a:ln/>
        </p:spPr>
        <p:txBody>
          <a:bodyPr wrap="square" rtlCol="0" anchor="ctr"/>
          <a:lstStyle/>
          <a:p>
            <a:pPr indent="0" marL="0">
              <a:lnSpc>
                <a:spcPct val="125000"/>
              </a:lnSpc>
              <a:buNone/>
            </a:pPr>
            <a:r>
              <a:rPr lang="en-US" sz="1250" dirty="0">
                <a:solidFill>
                  <a:srgbClr val="3A5257"/>
                </a:solidFill>
                <a:latin typeface="Calibri" pitchFamily="34" charset="0"/>
                <a:ea typeface="Calibri" pitchFamily="34" charset="-122"/>
                <a:cs typeface="Calibri" pitchFamily="34" charset="-120"/>
              </a:rPr>
              <a:t>Tampilan antarmuka, form input, tabel riwayat, tema gelap/terang</a:t>
            </a:r>
            <a:endParaRPr lang="en-US" sz="1250" dirty="0"/>
          </a:p>
        </p:txBody>
      </p:sp>
      <p:sp>
        <p:nvSpPr>
          <p:cNvPr id="10" name="Text 8"/>
          <p:cNvSpPr/>
          <p:nvPr/>
        </p:nvSpPr>
        <p:spPr>
          <a:xfrm>
            <a:off x="777240" y="2715768"/>
            <a:ext cx="365760" cy="182880"/>
          </a:xfrm>
          <a:prstGeom prst="rect">
            <a:avLst/>
          </a:prstGeom>
          <a:noFill/>
          <a:ln/>
        </p:spPr>
        <p:txBody>
          <a:bodyPr wrap="square" rtlCol="0" anchor="ctr"/>
          <a:lstStyle/>
          <a:p>
            <a:pPr algn="ctr" indent="0" marL="0">
              <a:buNone/>
            </a:pPr>
            <a:r>
              <a:rPr lang="en-US" sz="1300" dirty="0">
                <a:solidFill>
                  <a:srgbClr val="6E8A8E"/>
                </a:solidFill>
                <a:latin typeface="Calibri" pitchFamily="34" charset="0"/>
                <a:ea typeface="Calibri" pitchFamily="34" charset="-122"/>
                <a:cs typeface="Calibri" pitchFamily="34" charset="-120"/>
              </a:rPr>
              <a:t>↓</a:t>
            </a:r>
            <a:endParaRPr lang="en-US" sz="1300" dirty="0"/>
          </a:p>
        </p:txBody>
      </p:sp>
      <p:sp>
        <p:nvSpPr>
          <p:cNvPr id="11" name="Shape 9"/>
          <p:cNvSpPr/>
          <p:nvPr/>
        </p:nvSpPr>
        <p:spPr>
          <a:xfrm>
            <a:off x="548640" y="2871216"/>
            <a:ext cx="11064240" cy="1133856"/>
          </a:xfrm>
          <a:prstGeom prst="roundRect">
            <a:avLst>
              <a:gd name="adj" fmla="val 8065"/>
            </a:avLst>
          </a:prstGeom>
          <a:solidFill>
            <a:srgbClr val="FFFFFF"/>
          </a:solidFill>
          <a:ln w="12700">
            <a:solidFill>
              <a:srgbClr val="D7EAE8"/>
            </a:solidFill>
            <a:prstDash val="solid"/>
          </a:ln>
        </p:spPr>
      </p:sp>
      <p:sp>
        <p:nvSpPr>
          <p:cNvPr id="12" name="Shape 10"/>
          <p:cNvSpPr/>
          <p:nvPr/>
        </p:nvSpPr>
        <p:spPr>
          <a:xfrm>
            <a:off x="868680" y="3127248"/>
            <a:ext cx="621792" cy="621792"/>
          </a:xfrm>
          <a:prstGeom prst="ellipse">
            <a:avLst/>
          </a:prstGeom>
          <a:solidFill>
            <a:srgbClr val="065A82"/>
          </a:solidFill>
          <a:ln/>
        </p:spPr>
      </p:sp>
      <p:sp>
        <p:nvSpPr>
          <p:cNvPr id="13" name="Text 11"/>
          <p:cNvSpPr/>
          <p:nvPr/>
        </p:nvSpPr>
        <p:spPr>
          <a:xfrm>
            <a:off x="868680" y="3108960"/>
            <a:ext cx="621792" cy="621792"/>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Text 12"/>
          <p:cNvSpPr/>
          <p:nvPr/>
        </p:nvSpPr>
        <p:spPr>
          <a:xfrm>
            <a:off x="1691640" y="2999232"/>
            <a:ext cx="2834640" cy="320040"/>
          </a:xfrm>
          <a:prstGeom prst="rect">
            <a:avLst/>
          </a:prstGeom>
          <a:noFill/>
          <a:ln/>
        </p:spPr>
        <p:txBody>
          <a:bodyPr wrap="square" rtlCol="0" anchor="ctr"/>
          <a:lstStyle/>
          <a:p>
            <a:pPr indent="0" marL="0">
              <a:buNone/>
            </a:pPr>
            <a:r>
              <a:rPr lang="en-US" sz="1400" b="1" dirty="0">
                <a:solidFill>
                  <a:srgbClr val="10262B"/>
                </a:solidFill>
                <a:latin typeface="Calibri" pitchFamily="34" charset="0"/>
                <a:ea typeface="Calibri" pitchFamily="34" charset="-122"/>
                <a:cs typeface="Calibri" pitchFamily="34" charset="-120"/>
              </a:rPr>
              <a:t>APPLICATION LOGIC</a:t>
            </a:r>
            <a:endParaRPr lang="en-US" sz="1400" dirty="0"/>
          </a:p>
        </p:txBody>
      </p:sp>
      <p:sp>
        <p:nvSpPr>
          <p:cNvPr id="15" name="Text 13"/>
          <p:cNvSpPr/>
          <p:nvPr/>
        </p:nvSpPr>
        <p:spPr>
          <a:xfrm>
            <a:off x="1691640" y="3328416"/>
            <a:ext cx="2834640" cy="320040"/>
          </a:xfrm>
          <a:prstGeom prst="rect">
            <a:avLst/>
          </a:prstGeom>
          <a:noFill/>
          <a:ln/>
        </p:spPr>
        <p:txBody>
          <a:bodyPr wrap="square" rtlCol="0" anchor="ctr"/>
          <a:lstStyle/>
          <a:p>
            <a:pPr indent="0" marL="0">
              <a:buNone/>
            </a:pPr>
            <a:r>
              <a:rPr lang="en-US" sz="1150" b="1" dirty="0">
                <a:solidFill>
                  <a:srgbClr val="065A82"/>
                </a:solidFill>
                <a:latin typeface="Courier New" pitchFamily="34" charset="0"/>
                <a:ea typeface="Courier New" pitchFamily="34" charset="-122"/>
                <a:cs typeface="Courier New" pitchFamily="34" charset="-120"/>
              </a:rPr>
              <a:t>script.js</a:t>
            </a:r>
            <a:endParaRPr lang="en-US" sz="1150" dirty="0"/>
          </a:p>
        </p:txBody>
      </p:sp>
      <p:sp>
        <p:nvSpPr>
          <p:cNvPr id="16" name="Text 14"/>
          <p:cNvSpPr/>
          <p:nvPr/>
        </p:nvSpPr>
        <p:spPr>
          <a:xfrm>
            <a:off x="4663440" y="2999232"/>
            <a:ext cx="6766560" cy="859536"/>
          </a:xfrm>
          <a:prstGeom prst="rect">
            <a:avLst/>
          </a:prstGeom>
          <a:noFill/>
          <a:ln/>
        </p:spPr>
        <p:txBody>
          <a:bodyPr wrap="square" rtlCol="0" anchor="ctr"/>
          <a:lstStyle/>
          <a:p>
            <a:pPr indent="0" marL="0">
              <a:lnSpc>
                <a:spcPct val="125000"/>
              </a:lnSpc>
              <a:buNone/>
            </a:pPr>
            <a:r>
              <a:rPr lang="en-US" sz="1250" dirty="0">
                <a:solidFill>
                  <a:srgbClr val="3A5257"/>
                </a:solidFill>
                <a:latin typeface="Calibri" pitchFamily="34" charset="0"/>
                <a:ea typeface="Calibri" pitchFamily="34" charset="-122"/>
                <a:cs typeface="Calibri" pitchFamily="34" charset="-120"/>
              </a:rPr>
              <a:t>Perhitungan Weighted Product, validasi input, manajemen state UI, pemanggilan API</a:t>
            </a:r>
            <a:endParaRPr lang="en-US" sz="1250" dirty="0"/>
          </a:p>
        </p:txBody>
      </p:sp>
      <p:sp>
        <p:nvSpPr>
          <p:cNvPr id="17" name="Text 15"/>
          <p:cNvSpPr/>
          <p:nvPr/>
        </p:nvSpPr>
        <p:spPr>
          <a:xfrm>
            <a:off x="777240" y="3986784"/>
            <a:ext cx="365760" cy="182880"/>
          </a:xfrm>
          <a:prstGeom prst="rect">
            <a:avLst/>
          </a:prstGeom>
          <a:noFill/>
          <a:ln/>
        </p:spPr>
        <p:txBody>
          <a:bodyPr wrap="square" rtlCol="0" anchor="ctr"/>
          <a:lstStyle/>
          <a:p>
            <a:pPr algn="ctr" indent="0" marL="0">
              <a:buNone/>
            </a:pPr>
            <a:r>
              <a:rPr lang="en-US" sz="1300" dirty="0">
                <a:solidFill>
                  <a:srgbClr val="6E8A8E"/>
                </a:solidFill>
                <a:latin typeface="Calibri" pitchFamily="34" charset="0"/>
                <a:ea typeface="Calibri" pitchFamily="34" charset="-122"/>
                <a:cs typeface="Calibri" pitchFamily="34" charset="-120"/>
              </a:rPr>
              <a:t>↓</a:t>
            </a:r>
            <a:endParaRPr lang="en-US" sz="1300" dirty="0"/>
          </a:p>
        </p:txBody>
      </p:sp>
      <p:sp>
        <p:nvSpPr>
          <p:cNvPr id="18" name="Shape 16"/>
          <p:cNvSpPr/>
          <p:nvPr/>
        </p:nvSpPr>
        <p:spPr>
          <a:xfrm>
            <a:off x="548640" y="4142232"/>
            <a:ext cx="11064240" cy="1133856"/>
          </a:xfrm>
          <a:prstGeom prst="roundRect">
            <a:avLst>
              <a:gd name="adj" fmla="val 8065"/>
            </a:avLst>
          </a:prstGeom>
          <a:solidFill>
            <a:srgbClr val="FFFFFF"/>
          </a:solidFill>
          <a:ln w="12700">
            <a:solidFill>
              <a:srgbClr val="D7EAE8"/>
            </a:solidFill>
            <a:prstDash val="solid"/>
          </a:ln>
        </p:spPr>
      </p:sp>
      <p:sp>
        <p:nvSpPr>
          <p:cNvPr id="19" name="Shape 17"/>
          <p:cNvSpPr/>
          <p:nvPr/>
        </p:nvSpPr>
        <p:spPr>
          <a:xfrm>
            <a:off x="868680" y="4398264"/>
            <a:ext cx="621792" cy="621792"/>
          </a:xfrm>
          <a:prstGeom prst="ellipse">
            <a:avLst/>
          </a:prstGeom>
          <a:solidFill>
            <a:srgbClr val="02C39A"/>
          </a:solidFill>
          <a:ln/>
        </p:spPr>
      </p:sp>
      <p:sp>
        <p:nvSpPr>
          <p:cNvPr id="20" name="Text 18"/>
          <p:cNvSpPr/>
          <p:nvPr/>
        </p:nvSpPr>
        <p:spPr>
          <a:xfrm>
            <a:off x="868680" y="4379976"/>
            <a:ext cx="621792" cy="621792"/>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1" name="Text 19"/>
          <p:cNvSpPr/>
          <p:nvPr/>
        </p:nvSpPr>
        <p:spPr>
          <a:xfrm>
            <a:off x="1691640" y="4270248"/>
            <a:ext cx="2834640" cy="320040"/>
          </a:xfrm>
          <a:prstGeom prst="rect">
            <a:avLst/>
          </a:prstGeom>
          <a:noFill/>
          <a:ln/>
        </p:spPr>
        <p:txBody>
          <a:bodyPr wrap="square" rtlCol="0" anchor="ctr"/>
          <a:lstStyle/>
          <a:p>
            <a:pPr indent="0" marL="0">
              <a:buNone/>
            </a:pPr>
            <a:r>
              <a:rPr lang="en-US" sz="1400" b="1" dirty="0">
                <a:solidFill>
                  <a:srgbClr val="10262B"/>
                </a:solidFill>
                <a:latin typeface="Calibri" pitchFamily="34" charset="0"/>
                <a:ea typeface="Calibri" pitchFamily="34" charset="-122"/>
                <a:cs typeface="Calibri" pitchFamily="34" charset="-120"/>
              </a:rPr>
              <a:t>BACKEND API</a:t>
            </a:r>
            <a:endParaRPr lang="en-US" sz="1400" dirty="0"/>
          </a:p>
        </p:txBody>
      </p:sp>
      <p:sp>
        <p:nvSpPr>
          <p:cNvPr id="22" name="Text 20"/>
          <p:cNvSpPr/>
          <p:nvPr/>
        </p:nvSpPr>
        <p:spPr>
          <a:xfrm>
            <a:off x="1691640" y="4599432"/>
            <a:ext cx="2834640" cy="320040"/>
          </a:xfrm>
          <a:prstGeom prst="rect">
            <a:avLst/>
          </a:prstGeom>
          <a:noFill/>
          <a:ln/>
        </p:spPr>
        <p:txBody>
          <a:bodyPr wrap="square" rtlCol="0" anchor="ctr"/>
          <a:lstStyle/>
          <a:p>
            <a:pPr indent="0" marL="0">
              <a:buNone/>
            </a:pPr>
            <a:r>
              <a:rPr lang="en-US" sz="1150" b="1" dirty="0">
                <a:solidFill>
                  <a:srgbClr val="02C39A"/>
                </a:solidFill>
                <a:latin typeface="Courier New" pitchFamily="34" charset="0"/>
                <a:ea typeface="Courier New" pitchFamily="34" charset="-122"/>
                <a:cs typeface="Courier New" pitchFamily="34" charset="-120"/>
              </a:rPr>
              <a:t>api.php (PDO)</a:t>
            </a:r>
            <a:endParaRPr lang="en-US" sz="1150" dirty="0"/>
          </a:p>
        </p:txBody>
      </p:sp>
      <p:sp>
        <p:nvSpPr>
          <p:cNvPr id="23" name="Text 21"/>
          <p:cNvSpPr/>
          <p:nvPr/>
        </p:nvSpPr>
        <p:spPr>
          <a:xfrm>
            <a:off x="4663440" y="4270248"/>
            <a:ext cx="6766560" cy="859536"/>
          </a:xfrm>
          <a:prstGeom prst="rect">
            <a:avLst/>
          </a:prstGeom>
          <a:noFill/>
          <a:ln/>
        </p:spPr>
        <p:txBody>
          <a:bodyPr wrap="square" rtlCol="0" anchor="ctr"/>
          <a:lstStyle/>
          <a:p>
            <a:pPr indent="0" marL="0">
              <a:lnSpc>
                <a:spcPct val="125000"/>
              </a:lnSpc>
              <a:buNone/>
            </a:pPr>
            <a:r>
              <a:rPr lang="en-US" sz="1250" dirty="0">
                <a:solidFill>
                  <a:srgbClr val="3A5257"/>
                </a:solidFill>
                <a:latin typeface="Calibri" pitchFamily="34" charset="0"/>
                <a:ea typeface="Calibri" pitchFamily="34" charset="-122"/>
                <a:cs typeface="Calibri" pitchFamily="34" charset="-120"/>
              </a:rPr>
              <a:t>Endpoint REST berbasis action (GET/POST) yang menjembatani frontend dan basis data</a:t>
            </a:r>
            <a:endParaRPr lang="en-US" sz="1250" dirty="0"/>
          </a:p>
        </p:txBody>
      </p:sp>
      <p:sp>
        <p:nvSpPr>
          <p:cNvPr id="24" name="Text 22"/>
          <p:cNvSpPr/>
          <p:nvPr/>
        </p:nvSpPr>
        <p:spPr>
          <a:xfrm>
            <a:off x="777240" y="5257800"/>
            <a:ext cx="365760" cy="182880"/>
          </a:xfrm>
          <a:prstGeom prst="rect">
            <a:avLst/>
          </a:prstGeom>
          <a:noFill/>
          <a:ln/>
        </p:spPr>
        <p:txBody>
          <a:bodyPr wrap="square" rtlCol="0" anchor="ctr"/>
          <a:lstStyle/>
          <a:p>
            <a:pPr algn="ctr" indent="0" marL="0">
              <a:buNone/>
            </a:pPr>
            <a:r>
              <a:rPr lang="en-US" sz="1300" dirty="0">
                <a:solidFill>
                  <a:srgbClr val="6E8A8E"/>
                </a:solidFill>
                <a:latin typeface="Calibri" pitchFamily="34" charset="0"/>
                <a:ea typeface="Calibri" pitchFamily="34" charset="-122"/>
                <a:cs typeface="Calibri" pitchFamily="34" charset="-120"/>
              </a:rPr>
              <a:t>↓</a:t>
            </a:r>
            <a:endParaRPr lang="en-US" sz="1300" dirty="0"/>
          </a:p>
        </p:txBody>
      </p:sp>
      <p:sp>
        <p:nvSpPr>
          <p:cNvPr id="25" name="Shape 23"/>
          <p:cNvSpPr/>
          <p:nvPr/>
        </p:nvSpPr>
        <p:spPr>
          <a:xfrm>
            <a:off x="548640" y="5413248"/>
            <a:ext cx="11064240" cy="1133856"/>
          </a:xfrm>
          <a:prstGeom prst="roundRect">
            <a:avLst>
              <a:gd name="adj" fmla="val 8065"/>
            </a:avLst>
          </a:prstGeom>
          <a:solidFill>
            <a:srgbClr val="FFFFFF"/>
          </a:solidFill>
          <a:ln w="12700">
            <a:solidFill>
              <a:srgbClr val="D7EAE8"/>
            </a:solidFill>
            <a:prstDash val="solid"/>
          </a:ln>
        </p:spPr>
      </p:sp>
      <p:sp>
        <p:nvSpPr>
          <p:cNvPr id="26" name="Shape 24"/>
          <p:cNvSpPr/>
          <p:nvPr/>
        </p:nvSpPr>
        <p:spPr>
          <a:xfrm>
            <a:off x="868680" y="5669280"/>
            <a:ext cx="621792" cy="621792"/>
          </a:xfrm>
          <a:prstGeom prst="ellipse">
            <a:avLst/>
          </a:prstGeom>
          <a:solidFill>
            <a:srgbClr val="045C63"/>
          </a:solidFill>
          <a:ln/>
        </p:spPr>
      </p:sp>
      <p:sp>
        <p:nvSpPr>
          <p:cNvPr id="27" name="Text 25"/>
          <p:cNvSpPr/>
          <p:nvPr/>
        </p:nvSpPr>
        <p:spPr>
          <a:xfrm>
            <a:off x="868680" y="5650992"/>
            <a:ext cx="621792" cy="621792"/>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8" name="Text 26"/>
          <p:cNvSpPr/>
          <p:nvPr/>
        </p:nvSpPr>
        <p:spPr>
          <a:xfrm>
            <a:off x="1691640" y="5541264"/>
            <a:ext cx="2834640" cy="320040"/>
          </a:xfrm>
          <a:prstGeom prst="rect">
            <a:avLst/>
          </a:prstGeom>
          <a:noFill/>
          <a:ln/>
        </p:spPr>
        <p:txBody>
          <a:bodyPr wrap="square" rtlCol="0" anchor="ctr"/>
          <a:lstStyle/>
          <a:p>
            <a:pPr indent="0" marL="0">
              <a:buNone/>
            </a:pPr>
            <a:r>
              <a:rPr lang="en-US" sz="1400" b="1" dirty="0">
                <a:solidFill>
                  <a:srgbClr val="10262B"/>
                </a:solidFill>
                <a:latin typeface="Calibri" pitchFamily="34" charset="0"/>
                <a:ea typeface="Calibri" pitchFamily="34" charset="-122"/>
                <a:cs typeface="Calibri" pitchFamily="34" charset="-120"/>
              </a:rPr>
              <a:t>DATA</a:t>
            </a:r>
            <a:endParaRPr lang="en-US" sz="1400" dirty="0"/>
          </a:p>
        </p:txBody>
      </p:sp>
      <p:sp>
        <p:nvSpPr>
          <p:cNvPr id="29" name="Text 27"/>
          <p:cNvSpPr/>
          <p:nvPr/>
        </p:nvSpPr>
        <p:spPr>
          <a:xfrm>
            <a:off x="1691640" y="5870448"/>
            <a:ext cx="2834640" cy="320040"/>
          </a:xfrm>
          <a:prstGeom prst="rect">
            <a:avLst/>
          </a:prstGeom>
          <a:noFill/>
          <a:ln/>
        </p:spPr>
        <p:txBody>
          <a:bodyPr wrap="square" rtlCol="0" anchor="ctr"/>
          <a:lstStyle/>
          <a:p>
            <a:pPr indent="0" marL="0">
              <a:buNone/>
            </a:pPr>
            <a:r>
              <a:rPr lang="en-US" sz="1150" b="1" dirty="0">
                <a:solidFill>
                  <a:srgbClr val="045C63"/>
                </a:solidFill>
                <a:latin typeface="Courier New" pitchFamily="34" charset="0"/>
                <a:ea typeface="Courier New" pitchFamily="34" charset="-122"/>
                <a:cs typeface="Courier New" pitchFamily="34" charset="-120"/>
              </a:rPr>
              <a:t>MySQL</a:t>
            </a:r>
            <a:endParaRPr lang="en-US" sz="1150" dirty="0"/>
          </a:p>
        </p:txBody>
      </p:sp>
      <p:sp>
        <p:nvSpPr>
          <p:cNvPr id="30" name="Text 28"/>
          <p:cNvSpPr/>
          <p:nvPr/>
        </p:nvSpPr>
        <p:spPr>
          <a:xfrm>
            <a:off x="4663440" y="5541264"/>
            <a:ext cx="6766560" cy="859536"/>
          </a:xfrm>
          <a:prstGeom prst="rect">
            <a:avLst/>
          </a:prstGeom>
          <a:noFill/>
          <a:ln/>
        </p:spPr>
        <p:txBody>
          <a:bodyPr wrap="square" rtlCol="0" anchor="ctr"/>
          <a:lstStyle/>
          <a:p>
            <a:pPr indent="0" marL="0">
              <a:lnSpc>
                <a:spcPct val="125000"/>
              </a:lnSpc>
              <a:buNone/>
            </a:pPr>
            <a:r>
              <a:rPr lang="en-US" sz="1250" dirty="0">
                <a:solidFill>
                  <a:srgbClr val="3A5257"/>
                </a:solidFill>
                <a:latin typeface="Calibri" pitchFamily="34" charset="0"/>
                <a:ea typeface="Calibri" pitchFamily="34" charset="-122"/>
                <a:cs typeface="Calibri" pitchFamily="34" charset="-120"/>
              </a:rPr>
              <a:t>Penyimpanan permanen data depot, riwayat pemeriksaan, dan pengaturan bobot</a:t>
            </a:r>
            <a:endParaRPr lang="en-US" sz="1250" dirty="0"/>
          </a:p>
        </p:txBody>
      </p:sp>
      <p:sp>
        <p:nvSpPr>
          <p:cNvPr id="31" name="Text 29"/>
          <p:cNvSpPr/>
          <p:nvPr/>
        </p:nvSpPr>
        <p:spPr>
          <a:xfrm>
            <a:off x="457200" y="6519672"/>
            <a:ext cx="5486400" cy="274320"/>
          </a:xfrm>
          <a:prstGeom prst="rect">
            <a:avLst/>
          </a:prstGeom>
          <a:noFill/>
          <a:ln/>
        </p:spPr>
        <p:txBody>
          <a:bodyPr wrap="square" rtlCol="0" anchor="ctr"/>
          <a:lstStyle/>
          <a:p>
            <a:pPr algn="l" indent="0" marL="0">
              <a:buNone/>
            </a:pPr>
            <a:r>
              <a:rPr lang="en-US" sz="900" dirty="0">
                <a:solidFill>
                  <a:srgbClr val="6E8A8E"/>
                </a:solidFill>
                <a:latin typeface="Calibri" pitchFamily="34" charset="0"/>
                <a:ea typeface="Calibri" pitchFamily="34" charset="-122"/>
                <a:cs typeface="Calibri" pitchFamily="34" charset="-120"/>
              </a:rPr>
              <a:t>SI-PEKA · Sistem Penguji Kelayakan Air</a:t>
            </a:r>
            <a:endParaRPr lang="en-US" sz="900" dirty="0"/>
          </a:p>
        </p:txBody>
      </p:sp>
      <p:sp>
        <p:nvSpPr>
          <p:cNvPr id="32" name="Text 30"/>
          <p:cNvSpPr/>
          <p:nvPr/>
        </p:nvSpPr>
        <p:spPr>
          <a:xfrm>
            <a:off x="11430000" y="6519672"/>
            <a:ext cx="365760" cy="274320"/>
          </a:xfrm>
          <a:prstGeom prst="rect">
            <a:avLst/>
          </a:prstGeom>
          <a:noFill/>
          <a:ln/>
        </p:spPr>
        <p:txBody>
          <a:bodyPr wrap="square" rtlCol="0" anchor="ctr"/>
          <a:lstStyle/>
          <a:p>
            <a:pPr algn="r" indent="0" marL="0">
              <a:buNone/>
            </a:pPr>
            <a:r>
              <a:rPr lang="en-US" sz="900" dirty="0">
                <a:solidFill>
                  <a:srgbClr val="6E8A8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BAB 3 · PERANCANGAN SISTEM</a:t>
            </a:r>
            <a:endParaRPr lang="en-US" sz="1300" dirty="0"/>
          </a:p>
        </p:txBody>
      </p:sp>
      <p:sp>
        <p:nvSpPr>
          <p:cNvPr id="3" name="Text 1"/>
          <p:cNvSpPr/>
          <p:nvPr/>
        </p:nvSpPr>
        <p:spPr>
          <a:xfrm>
            <a:off x="548640" y="658368"/>
            <a:ext cx="10789920" cy="685800"/>
          </a:xfrm>
          <a:prstGeom prst="rect">
            <a:avLst/>
          </a:prstGeom>
          <a:noFill/>
          <a:ln/>
        </p:spPr>
        <p:txBody>
          <a:bodyPr wrap="square" rtlCol="0" anchor="ctr"/>
          <a:lstStyle/>
          <a:p>
            <a:pPr indent="0" marL="0">
              <a:buNone/>
            </a:pPr>
            <a:r>
              <a:rPr lang="en-US" sz="3000" b="1" dirty="0">
                <a:solidFill>
                  <a:srgbClr val="10262B"/>
                </a:solidFill>
                <a:latin typeface="Cambria" pitchFamily="34" charset="0"/>
                <a:ea typeface="Cambria" pitchFamily="34" charset="-122"/>
                <a:cs typeface="Cambria" pitchFamily="34" charset="-120"/>
              </a:rPr>
              <a:t>Perancangan Basis Data</a:t>
            </a:r>
            <a:endParaRPr lang="en-US" sz="3000" dirty="0"/>
          </a:p>
        </p:txBody>
      </p:sp>
      <p:sp>
        <p:nvSpPr>
          <p:cNvPr id="4" name="Text 2"/>
          <p:cNvSpPr/>
          <p:nvPr/>
        </p:nvSpPr>
        <p:spPr>
          <a:xfrm>
            <a:off x="548640" y="1417320"/>
            <a:ext cx="5486400" cy="320040"/>
          </a:xfrm>
          <a:prstGeom prst="rect">
            <a:avLst/>
          </a:prstGeom>
          <a:noFill/>
          <a:ln/>
        </p:spPr>
        <p:txBody>
          <a:bodyPr wrap="square" rtlCol="0" anchor="ctr"/>
          <a:lstStyle/>
          <a:p>
            <a:pPr indent="0" marL="0">
              <a:buNone/>
            </a:pPr>
            <a:r>
              <a:rPr lang="en-US" sz="1300" b="1" dirty="0">
                <a:solidFill>
                  <a:srgbClr val="045C63"/>
                </a:solidFill>
                <a:latin typeface="Courier New" pitchFamily="34" charset="0"/>
                <a:ea typeface="Courier New" pitchFamily="34" charset="-122"/>
                <a:cs typeface="Courier New" pitchFamily="34" charset="-120"/>
              </a:rPr>
              <a:t>db_spk_kualitas_air</a:t>
            </a:r>
            <a:endParaRPr lang="en-US" sz="1300" dirty="0"/>
          </a:p>
        </p:txBody>
      </p:sp>
      <p:sp>
        <p:nvSpPr>
          <p:cNvPr id="5" name="Shape 3"/>
          <p:cNvSpPr/>
          <p:nvPr/>
        </p:nvSpPr>
        <p:spPr>
          <a:xfrm>
            <a:off x="548640" y="1965960"/>
            <a:ext cx="3108960" cy="1828800"/>
          </a:xfrm>
          <a:prstGeom prst="roundRect">
            <a:avLst>
              <a:gd name="adj" fmla="val 4000"/>
            </a:avLst>
          </a:prstGeom>
          <a:solidFill>
            <a:srgbClr val="FFFFFF"/>
          </a:solidFill>
          <a:ln w="19050">
            <a:solidFill>
              <a:srgbClr val="028090"/>
            </a:solidFill>
            <a:prstDash val="solid"/>
          </a:ln>
        </p:spPr>
      </p:sp>
      <p:sp>
        <p:nvSpPr>
          <p:cNvPr id="6" name="Shape 4"/>
          <p:cNvSpPr/>
          <p:nvPr/>
        </p:nvSpPr>
        <p:spPr>
          <a:xfrm>
            <a:off x="548640" y="1965960"/>
            <a:ext cx="3108960" cy="365760"/>
          </a:xfrm>
          <a:prstGeom prst="roundRect">
            <a:avLst>
              <a:gd name="adj" fmla="val 20000"/>
            </a:avLst>
          </a:prstGeom>
          <a:solidFill>
            <a:srgbClr val="028090"/>
          </a:solidFill>
          <a:ln/>
        </p:spPr>
      </p:sp>
      <p:sp>
        <p:nvSpPr>
          <p:cNvPr id="7" name="Shape 5"/>
          <p:cNvSpPr/>
          <p:nvPr/>
        </p:nvSpPr>
        <p:spPr>
          <a:xfrm>
            <a:off x="548640" y="2148840"/>
            <a:ext cx="3108960" cy="182880"/>
          </a:xfrm>
          <a:prstGeom prst="rect">
            <a:avLst/>
          </a:prstGeom>
          <a:solidFill>
            <a:srgbClr val="028090"/>
          </a:solidFill>
          <a:ln/>
        </p:spPr>
      </p:sp>
      <p:sp>
        <p:nvSpPr>
          <p:cNvPr id="8" name="Text 6"/>
          <p:cNvSpPr/>
          <p:nvPr/>
        </p:nvSpPr>
        <p:spPr>
          <a:xfrm>
            <a:off x="548640" y="1965960"/>
            <a:ext cx="3108960" cy="36576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data_depot</a:t>
            </a:r>
            <a:endParaRPr lang="en-US" sz="1250" dirty="0"/>
          </a:p>
        </p:txBody>
      </p:sp>
      <p:sp>
        <p:nvSpPr>
          <p:cNvPr id="9" name="Text 7"/>
          <p:cNvSpPr/>
          <p:nvPr/>
        </p:nvSpPr>
        <p:spPr>
          <a:xfrm>
            <a:off x="685800" y="2404872"/>
            <a:ext cx="2834640" cy="1325880"/>
          </a:xfrm>
          <a:prstGeom prst="rect">
            <a:avLst/>
          </a:prstGeom>
          <a:noFill/>
          <a:ln/>
        </p:spPr>
        <p:txBody>
          <a:bodyPr wrap="square" rtlCol="0" anchor="ctr"/>
          <a:lstStyle/>
          <a:p>
            <a:pPr indent="0" marL="0">
              <a:lnSpc>
                <a:spcPct val="135000"/>
              </a:lnSpc>
              <a:buNone/>
            </a:pPr>
            <a:r>
              <a:rPr lang="en-US" sz="1000" dirty="0">
                <a:solidFill>
                  <a:srgbClr val="3A5257"/>
                </a:solidFill>
                <a:latin typeface="Courier New" pitchFamily="34" charset="0"/>
                <a:ea typeface="Courier New" pitchFamily="34" charset="-122"/>
                <a:cs typeface="Courier New" pitchFamily="34" charset="-120"/>
              </a:rPr>
              <a:t>id_depot  PK</a:t>
            </a:r>
            <a:endParaRPr lang="en-US" sz="1000" dirty="0"/>
          </a:p>
          <a:p>
            <a:pPr indent="0" marL="0">
              <a:lnSpc>
                <a:spcPct val="135000"/>
              </a:lnSpc>
              <a:buNone/>
            </a:pPr>
            <a:r>
              <a:rPr lang="en-US" sz="1000" dirty="0">
                <a:solidFill>
                  <a:srgbClr val="3A5257"/>
                </a:solidFill>
                <a:latin typeface="Courier New" pitchFamily="34" charset="0"/>
                <a:ea typeface="Courier New" pitchFamily="34" charset="-122"/>
                <a:cs typeface="Courier New" pitchFamily="34" charset="-120"/>
              </a:rPr>
              <a:t>nama_depot</a:t>
            </a:r>
            <a:endParaRPr lang="en-US" sz="1000" dirty="0"/>
          </a:p>
          <a:p>
            <a:pPr indent="0" marL="0">
              <a:lnSpc>
                <a:spcPct val="135000"/>
              </a:lnSpc>
              <a:buNone/>
            </a:pPr>
            <a:r>
              <a:rPr lang="en-US" sz="1000" dirty="0">
                <a:solidFill>
                  <a:srgbClr val="3A5257"/>
                </a:solidFill>
                <a:latin typeface="Courier New" pitchFamily="34" charset="0"/>
                <a:ea typeface="Courier New" pitchFamily="34" charset="-122"/>
                <a:cs typeface="Courier New" pitchFamily="34" charset="-120"/>
              </a:rPr>
              <a:t>alamat_depot</a:t>
            </a:r>
            <a:endParaRPr lang="en-US" sz="1000" dirty="0"/>
          </a:p>
          <a:p>
            <a:pPr indent="0" marL="0">
              <a:lnSpc>
                <a:spcPct val="135000"/>
              </a:lnSpc>
              <a:buNone/>
            </a:pPr>
            <a:r>
              <a:rPr lang="en-US" sz="1000" dirty="0">
                <a:solidFill>
                  <a:srgbClr val="3A5257"/>
                </a:solidFill>
                <a:latin typeface="Courier New" pitchFamily="34" charset="0"/>
                <a:ea typeface="Courier New" pitchFamily="34" charset="-122"/>
                <a:cs typeface="Courier New" pitchFamily="34" charset="-120"/>
              </a:rPr>
              <a:t>kontak</a:t>
            </a:r>
            <a:endParaRPr lang="en-US" sz="1000" dirty="0"/>
          </a:p>
        </p:txBody>
      </p:sp>
      <p:sp>
        <p:nvSpPr>
          <p:cNvPr id="10" name="Shape 8"/>
          <p:cNvSpPr/>
          <p:nvPr/>
        </p:nvSpPr>
        <p:spPr>
          <a:xfrm>
            <a:off x="4480560" y="1965960"/>
            <a:ext cx="3657600" cy="2514600"/>
          </a:xfrm>
          <a:prstGeom prst="roundRect">
            <a:avLst>
              <a:gd name="adj" fmla="val 2909"/>
            </a:avLst>
          </a:prstGeom>
          <a:solidFill>
            <a:srgbClr val="FFFFFF"/>
          </a:solidFill>
          <a:ln w="19050">
            <a:solidFill>
              <a:srgbClr val="065A82"/>
            </a:solidFill>
            <a:prstDash val="solid"/>
          </a:ln>
        </p:spPr>
      </p:sp>
      <p:sp>
        <p:nvSpPr>
          <p:cNvPr id="11" name="Shape 9"/>
          <p:cNvSpPr/>
          <p:nvPr/>
        </p:nvSpPr>
        <p:spPr>
          <a:xfrm>
            <a:off x="4480560" y="1965960"/>
            <a:ext cx="3657600" cy="365760"/>
          </a:xfrm>
          <a:prstGeom prst="roundRect">
            <a:avLst>
              <a:gd name="adj" fmla="val 20000"/>
            </a:avLst>
          </a:prstGeom>
          <a:solidFill>
            <a:srgbClr val="065A82"/>
          </a:solidFill>
          <a:ln/>
        </p:spPr>
      </p:sp>
      <p:sp>
        <p:nvSpPr>
          <p:cNvPr id="12" name="Shape 10"/>
          <p:cNvSpPr/>
          <p:nvPr/>
        </p:nvSpPr>
        <p:spPr>
          <a:xfrm>
            <a:off x="4480560" y="2148840"/>
            <a:ext cx="3657600" cy="182880"/>
          </a:xfrm>
          <a:prstGeom prst="rect">
            <a:avLst/>
          </a:prstGeom>
          <a:solidFill>
            <a:srgbClr val="065A82"/>
          </a:solidFill>
          <a:ln/>
        </p:spPr>
      </p:sp>
      <p:sp>
        <p:nvSpPr>
          <p:cNvPr id="13" name="Text 11"/>
          <p:cNvSpPr/>
          <p:nvPr/>
        </p:nvSpPr>
        <p:spPr>
          <a:xfrm>
            <a:off x="4480560" y="1965960"/>
            <a:ext cx="3657600" cy="36576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riwayat_pemeriksaan</a:t>
            </a:r>
            <a:endParaRPr lang="en-US" sz="1250" dirty="0"/>
          </a:p>
        </p:txBody>
      </p:sp>
      <p:sp>
        <p:nvSpPr>
          <p:cNvPr id="14" name="Text 12"/>
          <p:cNvSpPr/>
          <p:nvPr/>
        </p:nvSpPr>
        <p:spPr>
          <a:xfrm>
            <a:off x="4617720" y="2404872"/>
            <a:ext cx="3383280" cy="2011680"/>
          </a:xfrm>
          <a:prstGeom prst="rect">
            <a:avLst/>
          </a:prstGeom>
          <a:noFill/>
          <a:ln/>
        </p:spPr>
        <p:txBody>
          <a:bodyPr wrap="square" rtlCol="0" anchor="ctr"/>
          <a:lstStyle/>
          <a:p>
            <a:pPr indent="0" marL="0">
              <a:lnSpc>
                <a:spcPct val="135000"/>
              </a:lnSpc>
              <a:buNone/>
            </a:pPr>
            <a:r>
              <a:rPr lang="en-US" sz="1000" dirty="0">
                <a:solidFill>
                  <a:srgbClr val="3A5257"/>
                </a:solidFill>
                <a:latin typeface="Courier New" pitchFamily="34" charset="0"/>
                <a:ea typeface="Courier New" pitchFamily="34" charset="-122"/>
                <a:cs typeface="Courier New" pitchFamily="34" charset="-120"/>
              </a:rPr>
              <a:t>id_pemeriksaan  PK</a:t>
            </a:r>
            <a:endParaRPr lang="en-US" sz="1000" dirty="0"/>
          </a:p>
          <a:p>
            <a:pPr indent="0" marL="0">
              <a:lnSpc>
                <a:spcPct val="135000"/>
              </a:lnSpc>
              <a:buNone/>
            </a:pPr>
            <a:r>
              <a:rPr lang="en-US" sz="1000" dirty="0">
                <a:solidFill>
                  <a:srgbClr val="3A5257"/>
                </a:solidFill>
                <a:latin typeface="Courier New" pitchFamily="34" charset="0"/>
                <a:ea typeface="Courier New" pitchFamily="34" charset="-122"/>
                <a:cs typeface="Courier New" pitchFamily="34" charset="-120"/>
              </a:rPr>
              <a:t>id_depot  FK</a:t>
            </a:r>
            <a:endParaRPr lang="en-US" sz="1000" dirty="0"/>
          </a:p>
          <a:p>
            <a:pPr indent="0" marL="0">
              <a:lnSpc>
                <a:spcPct val="135000"/>
              </a:lnSpc>
              <a:buNone/>
            </a:pPr>
            <a:r>
              <a:rPr lang="en-US" sz="1000" dirty="0">
                <a:solidFill>
                  <a:srgbClr val="3A5257"/>
                </a:solidFill>
                <a:latin typeface="Courier New" pitchFamily="34" charset="0"/>
                <a:ea typeface="Courier New" pitchFamily="34" charset="-122"/>
                <a:cs typeface="Courier New" pitchFamily="34" charset="-120"/>
              </a:rPr>
              <a:t>waktu_pemeriksaan</a:t>
            </a:r>
            <a:endParaRPr lang="en-US" sz="1000" dirty="0"/>
          </a:p>
          <a:p>
            <a:pPr indent="0" marL="0">
              <a:lnSpc>
                <a:spcPct val="135000"/>
              </a:lnSpc>
              <a:buNone/>
            </a:pPr>
            <a:r>
              <a:rPr lang="en-US" sz="1000" dirty="0">
                <a:solidFill>
                  <a:srgbClr val="3A5257"/>
                </a:solidFill>
                <a:latin typeface="Courier New" pitchFamily="34" charset="0"/>
                <a:ea typeface="Courier New" pitchFamily="34" charset="-122"/>
                <a:cs typeface="Courier New" pitchFamily="34" charset="-120"/>
              </a:rPr>
              <a:t>nilai_ph / nilai_tds</a:t>
            </a:r>
            <a:endParaRPr lang="en-US" sz="1000" dirty="0"/>
          </a:p>
          <a:p>
            <a:pPr indent="0" marL="0">
              <a:lnSpc>
                <a:spcPct val="135000"/>
              </a:lnSpc>
              <a:buNone/>
            </a:pPr>
            <a:r>
              <a:rPr lang="en-US" sz="1000" dirty="0">
                <a:solidFill>
                  <a:srgbClr val="3A5257"/>
                </a:solidFill>
                <a:latin typeface="Courier New" pitchFamily="34" charset="0"/>
                <a:ea typeface="Courier New" pitchFamily="34" charset="-122"/>
                <a:cs typeface="Courier New" pitchFamily="34" charset="-120"/>
              </a:rPr>
              <a:t>nilai_turbidity</a:t>
            </a:r>
            <a:endParaRPr lang="en-US" sz="1000" dirty="0"/>
          </a:p>
          <a:p>
            <a:pPr indent="0" marL="0">
              <a:lnSpc>
                <a:spcPct val="135000"/>
              </a:lnSpc>
              <a:buNone/>
            </a:pPr>
            <a:r>
              <a:rPr lang="en-US" sz="1000" dirty="0">
                <a:solidFill>
                  <a:srgbClr val="3A5257"/>
                </a:solidFill>
                <a:latin typeface="Courier New" pitchFamily="34" charset="0"/>
                <a:ea typeface="Courier New" pitchFamily="34" charset="-122"/>
                <a:cs typeface="Courier New" pitchFamily="34" charset="-120"/>
              </a:rPr>
              <a:t>skor_v</a:t>
            </a:r>
            <a:endParaRPr lang="en-US" sz="1000" dirty="0"/>
          </a:p>
          <a:p>
            <a:pPr indent="0" marL="0">
              <a:lnSpc>
                <a:spcPct val="135000"/>
              </a:lnSpc>
              <a:buNone/>
            </a:pPr>
            <a:r>
              <a:rPr lang="en-US" sz="1000" dirty="0">
                <a:solidFill>
                  <a:srgbClr val="3A5257"/>
                </a:solidFill>
                <a:latin typeface="Courier New" pitchFamily="34" charset="0"/>
                <a:ea typeface="Courier New" pitchFamily="34" charset="-122"/>
                <a:cs typeface="Courier New" pitchFamily="34" charset="-120"/>
              </a:rPr>
              <a:t>status_kelayakan</a:t>
            </a:r>
            <a:endParaRPr lang="en-US" sz="1000" dirty="0"/>
          </a:p>
        </p:txBody>
      </p:sp>
      <p:sp>
        <p:nvSpPr>
          <p:cNvPr id="15" name="Shape 13"/>
          <p:cNvSpPr/>
          <p:nvPr/>
        </p:nvSpPr>
        <p:spPr>
          <a:xfrm>
            <a:off x="8961120" y="1965960"/>
            <a:ext cx="2743200" cy="1828800"/>
          </a:xfrm>
          <a:prstGeom prst="roundRect">
            <a:avLst>
              <a:gd name="adj" fmla="val 4000"/>
            </a:avLst>
          </a:prstGeom>
          <a:solidFill>
            <a:srgbClr val="FFFFFF"/>
          </a:solidFill>
          <a:ln w="19050">
            <a:solidFill>
              <a:srgbClr val="02C39A"/>
            </a:solidFill>
            <a:prstDash val="solid"/>
          </a:ln>
        </p:spPr>
      </p:sp>
      <p:sp>
        <p:nvSpPr>
          <p:cNvPr id="16" name="Shape 14"/>
          <p:cNvSpPr/>
          <p:nvPr/>
        </p:nvSpPr>
        <p:spPr>
          <a:xfrm>
            <a:off x="8961120" y="1965960"/>
            <a:ext cx="2743200" cy="365760"/>
          </a:xfrm>
          <a:prstGeom prst="roundRect">
            <a:avLst>
              <a:gd name="adj" fmla="val 20000"/>
            </a:avLst>
          </a:prstGeom>
          <a:solidFill>
            <a:srgbClr val="02C39A"/>
          </a:solidFill>
          <a:ln/>
        </p:spPr>
      </p:sp>
      <p:sp>
        <p:nvSpPr>
          <p:cNvPr id="17" name="Shape 15"/>
          <p:cNvSpPr/>
          <p:nvPr/>
        </p:nvSpPr>
        <p:spPr>
          <a:xfrm>
            <a:off x="8961120" y="2148840"/>
            <a:ext cx="2743200" cy="182880"/>
          </a:xfrm>
          <a:prstGeom prst="rect">
            <a:avLst/>
          </a:prstGeom>
          <a:solidFill>
            <a:srgbClr val="02C39A"/>
          </a:solidFill>
          <a:ln/>
        </p:spPr>
      </p:sp>
      <p:sp>
        <p:nvSpPr>
          <p:cNvPr id="18" name="Text 16"/>
          <p:cNvSpPr/>
          <p:nvPr/>
        </p:nvSpPr>
        <p:spPr>
          <a:xfrm>
            <a:off x="8961120" y="1965960"/>
            <a:ext cx="2743200" cy="36576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pengaturan_bobot</a:t>
            </a:r>
            <a:endParaRPr lang="en-US" sz="1250" dirty="0"/>
          </a:p>
        </p:txBody>
      </p:sp>
      <p:sp>
        <p:nvSpPr>
          <p:cNvPr id="19" name="Text 17"/>
          <p:cNvSpPr/>
          <p:nvPr/>
        </p:nvSpPr>
        <p:spPr>
          <a:xfrm>
            <a:off x="9098280" y="2404872"/>
            <a:ext cx="2468880" cy="1325880"/>
          </a:xfrm>
          <a:prstGeom prst="rect">
            <a:avLst/>
          </a:prstGeom>
          <a:noFill/>
          <a:ln/>
        </p:spPr>
        <p:txBody>
          <a:bodyPr wrap="square" rtlCol="0" anchor="ctr"/>
          <a:lstStyle/>
          <a:p>
            <a:pPr indent="0" marL="0">
              <a:lnSpc>
                <a:spcPct val="135000"/>
              </a:lnSpc>
              <a:buNone/>
            </a:pPr>
            <a:r>
              <a:rPr lang="en-US" sz="1000" dirty="0">
                <a:solidFill>
                  <a:srgbClr val="3A5257"/>
                </a:solidFill>
                <a:latin typeface="Courier New" pitchFamily="34" charset="0"/>
                <a:ea typeface="Courier New" pitchFamily="34" charset="-122"/>
                <a:cs typeface="Courier New" pitchFamily="34" charset="-120"/>
              </a:rPr>
              <a:t>id_pengaturan  PK</a:t>
            </a:r>
            <a:endParaRPr lang="en-US" sz="1000" dirty="0"/>
          </a:p>
          <a:p>
            <a:pPr indent="0" marL="0">
              <a:lnSpc>
                <a:spcPct val="135000"/>
              </a:lnSpc>
              <a:buNone/>
            </a:pPr>
            <a:r>
              <a:rPr lang="en-US" sz="1000" dirty="0">
                <a:solidFill>
                  <a:srgbClr val="3A5257"/>
                </a:solidFill>
                <a:latin typeface="Courier New" pitchFamily="34" charset="0"/>
                <a:ea typeface="Courier New" pitchFamily="34" charset="-122"/>
                <a:cs typeface="Courier New" pitchFamily="34" charset="-120"/>
              </a:rPr>
              <a:t>bobot_ph / bobot_tds</a:t>
            </a:r>
            <a:endParaRPr lang="en-US" sz="1000" dirty="0"/>
          </a:p>
          <a:p>
            <a:pPr indent="0" marL="0">
              <a:lnSpc>
                <a:spcPct val="135000"/>
              </a:lnSpc>
              <a:buNone/>
            </a:pPr>
            <a:r>
              <a:rPr lang="en-US" sz="1000" dirty="0">
                <a:solidFill>
                  <a:srgbClr val="3A5257"/>
                </a:solidFill>
                <a:latin typeface="Courier New" pitchFamily="34" charset="0"/>
                <a:ea typeface="Courier New" pitchFamily="34" charset="-122"/>
                <a:cs typeface="Courier New" pitchFamily="34" charset="-120"/>
              </a:rPr>
              <a:t>bobot_turb</a:t>
            </a:r>
            <a:endParaRPr lang="en-US" sz="1000" dirty="0"/>
          </a:p>
          <a:p>
            <a:pPr indent="0" marL="0">
              <a:lnSpc>
                <a:spcPct val="135000"/>
              </a:lnSpc>
              <a:buNone/>
            </a:pPr>
            <a:r>
              <a:rPr lang="en-US" sz="1000" dirty="0">
                <a:solidFill>
                  <a:srgbClr val="3A5257"/>
                </a:solidFill>
                <a:latin typeface="Courier New" pitchFamily="34" charset="0"/>
                <a:ea typeface="Courier New" pitchFamily="34" charset="-122"/>
                <a:cs typeface="Courier New" pitchFamily="34" charset="-120"/>
              </a:rPr>
              <a:t>terakhir_diubah</a:t>
            </a:r>
            <a:endParaRPr lang="en-US" sz="1000" dirty="0"/>
          </a:p>
        </p:txBody>
      </p:sp>
      <p:sp>
        <p:nvSpPr>
          <p:cNvPr id="20" name="Text 18"/>
          <p:cNvSpPr/>
          <p:nvPr/>
        </p:nvSpPr>
        <p:spPr>
          <a:xfrm>
            <a:off x="3657600" y="2651760"/>
            <a:ext cx="274320" cy="274320"/>
          </a:xfrm>
          <a:prstGeom prst="rect">
            <a:avLst/>
          </a:prstGeom>
          <a:noFill/>
          <a:ln/>
        </p:spPr>
        <p:txBody>
          <a:bodyPr wrap="square" rtlCol="0" anchor="ctr"/>
          <a:lstStyle/>
          <a:p>
            <a:pPr indent="0" marL="0">
              <a:buNone/>
            </a:pPr>
            <a:r>
              <a:rPr lang="en-US" sz="1200" b="1" dirty="0">
                <a:solidFill>
                  <a:srgbClr val="6E8A8E"/>
                </a:solidFill>
                <a:latin typeface="Calibri" pitchFamily="34" charset="0"/>
                <a:ea typeface="Calibri" pitchFamily="34" charset="-122"/>
                <a:cs typeface="Calibri" pitchFamily="34" charset="-120"/>
              </a:rPr>
              <a:t>1</a:t>
            </a:r>
            <a:endParaRPr lang="en-US" sz="1200" dirty="0"/>
          </a:p>
        </p:txBody>
      </p:sp>
      <p:sp>
        <p:nvSpPr>
          <p:cNvPr id="21" name="Text 19"/>
          <p:cNvSpPr/>
          <p:nvPr/>
        </p:nvSpPr>
        <p:spPr>
          <a:xfrm>
            <a:off x="4160520" y="2651760"/>
            <a:ext cx="274320" cy="274320"/>
          </a:xfrm>
          <a:prstGeom prst="rect">
            <a:avLst/>
          </a:prstGeom>
          <a:noFill/>
          <a:ln/>
        </p:spPr>
        <p:txBody>
          <a:bodyPr wrap="square" rtlCol="0" anchor="ctr"/>
          <a:lstStyle/>
          <a:p>
            <a:pPr indent="0" marL="0">
              <a:buNone/>
            </a:pPr>
            <a:r>
              <a:rPr lang="en-US" sz="1200" b="1" dirty="0">
                <a:solidFill>
                  <a:srgbClr val="6E8A8E"/>
                </a:solidFill>
                <a:latin typeface="Calibri" pitchFamily="34" charset="0"/>
                <a:ea typeface="Calibri" pitchFamily="34" charset="-122"/>
                <a:cs typeface="Calibri" pitchFamily="34" charset="-120"/>
              </a:rPr>
              <a:t>N</a:t>
            </a:r>
            <a:endParaRPr lang="en-US" sz="1200" dirty="0"/>
          </a:p>
        </p:txBody>
      </p:sp>
      <p:sp>
        <p:nvSpPr>
          <p:cNvPr id="22" name="Shape 20"/>
          <p:cNvSpPr/>
          <p:nvPr/>
        </p:nvSpPr>
        <p:spPr>
          <a:xfrm>
            <a:off x="3657600" y="2743200"/>
            <a:ext cx="822960" cy="0"/>
          </a:xfrm>
          <a:prstGeom prst="line">
            <a:avLst/>
          </a:prstGeom>
          <a:noFill/>
          <a:ln w="15875">
            <a:solidFill>
              <a:srgbClr val="6E8A8E"/>
            </a:solidFill>
            <a:prstDash val="dash"/>
          </a:ln>
        </p:spPr>
      </p:sp>
      <p:sp>
        <p:nvSpPr>
          <p:cNvPr id="23" name="Text 21"/>
          <p:cNvSpPr/>
          <p:nvPr/>
        </p:nvSpPr>
        <p:spPr>
          <a:xfrm>
            <a:off x="8961120" y="3840480"/>
            <a:ext cx="2743200" cy="274320"/>
          </a:xfrm>
          <a:prstGeom prst="rect">
            <a:avLst/>
          </a:prstGeom>
          <a:noFill/>
          <a:ln/>
        </p:spPr>
        <p:txBody>
          <a:bodyPr wrap="square" rtlCol="0" anchor="ctr"/>
          <a:lstStyle/>
          <a:p>
            <a:pPr indent="0" marL="0">
              <a:buNone/>
            </a:pPr>
            <a:r>
              <a:rPr lang="en-US" sz="950" i="1" dirty="0">
                <a:solidFill>
                  <a:srgbClr val="6E8A8E"/>
                </a:solidFill>
                <a:latin typeface="Calibri" pitchFamily="34" charset="0"/>
                <a:ea typeface="Calibri" pitchFamily="34" charset="-122"/>
                <a:cs typeface="Calibri" pitchFamily="34" charset="-120"/>
              </a:rPr>
              <a:t>konfigurasi tunggal (berdiri sendiri)</a:t>
            </a:r>
            <a:endParaRPr lang="en-US" sz="950" dirty="0"/>
          </a:p>
        </p:txBody>
      </p:sp>
      <p:sp>
        <p:nvSpPr>
          <p:cNvPr id="24" name="Text 22"/>
          <p:cNvSpPr/>
          <p:nvPr/>
        </p:nvSpPr>
        <p:spPr>
          <a:xfrm>
            <a:off x="548640" y="4709160"/>
            <a:ext cx="11155680" cy="822960"/>
          </a:xfrm>
          <a:prstGeom prst="rect">
            <a:avLst/>
          </a:prstGeom>
          <a:noFill/>
          <a:ln/>
        </p:spPr>
        <p:txBody>
          <a:bodyPr wrap="square" rtlCol="0" anchor="ctr"/>
          <a:lstStyle/>
          <a:p>
            <a:pPr indent="0" marL="0">
              <a:lnSpc>
                <a:spcPct val="135000"/>
              </a:lnSpc>
              <a:buNone/>
            </a:pPr>
            <a:r>
              <a:rPr lang="en-US" sz="1300" dirty="0">
                <a:solidFill>
                  <a:srgbClr val="3A5257"/>
                </a:solidFill>
                <a:latin typeface="Calibri" pitchFamily="34" charset="0"/>
                <a:ea typeface="Calibri" pitchFamily="34" charset="-122"/>
                <a:cs typeface="Calibri" pitchFamily="34" charset="-120"/>
              </a:rPr>
              <a:t>Satu depot dapat memiliki banyak riwayat pemeriksaan (relasi 1–N via id_depot). Query riwayat menggunakan LEFT JOIN, sehingga histori tetap tampil dengan label "(Depot Terhapus)" walau data depot terkait dihapus.</a:t>
            </a:r>
            <a:endParaRPr lang="en-US" sz="1300" dirty="0"/>
          </a:p>
        </p:txBody>
      </p:sp>
      <p:sp>
        <p:nvSpPr>
          <p:cNvPr id="25" name="Shape 23"/>
          <p:cNvSpPr/>
          <p:nvPr/>
        </p:nvSpPr>
        <p:spPr>
          <a:xfrm>
            <a:off x="548640" y="5623560"/>
            <a:ext cx="11155680" cy="685800"/>
          </a:xfrm>
          <a:prstGeom prst="roundRect">
            <a:avLst>
              <a:gd name="adj" fmla="val 13333"/>
            </a:avLst>
          </a:prstGeom>
          <a:solidFill>
            <a:srgbClr val="EAF6F5"/>
          </a:solidFill>
          <a:ln/>
        </p:spPr>
      </p:sp>
      <p:sp>
        <p:nvSpPr>
          <p:cNvPr id="26" name="Text 24"/>
          <p:cNvSpPr/>
          <p:nvPr/>
        </p:nvSpPr>
        <p:spPr>
          <a:xfrm>
            <a:off x="777240" y="5623560"/>
            <a:ext cx="10698480" cy="685800"/>
          </a:xfrm>
          <a:prstGeom prst="rect">
            <a:avLst/>
          </a:prstGeom>
          <a:noFill/>
          <a:ln/>
        </p:spPr>
        <p:txBody>
          <a:bodyPr wrap="square" rtlCol="0" anchor="ctr"/>
          <a:lstStyle/>
          <a:p>
            <a:pPr indent="0" marL="0">
              <a:buNone/>
            </a:pPr>
            <a:r>
              <a:rPr lang="en-US" sz="1200" i="1" dirty="0">
                <a:solidFill>
                  <a:srgbClr val="045C63"/>
                </a:solidFill>
                <a:latin typeface="Calibri" pitchFamily="34" charset="0"/>
                <a:ea typeface="Calibri" pitchFamily="34" charset="-122"/>
                <a:cs typeface="Calibri" pitchFamily="34" charset="-120"/>
              </a:rPr>
              <a:t>Akses data menggunakan PDO dengan prepared statement (bindValue) pada seluruh operasi INSERT / UPDATE / SELECT bersyarat — melindungi dari celah SQL Injection.</a:t>
            </a:r>
            <a:endParaRPr lang="en-US" sz="1200" dirty="0"/>
          </a:p>
        </p:txBody>
      </p:sp>
      <p:sp>
        <p:nvSpPr>
          <p:cNvPr id="27" name="Text 25"/>
          <p:cNvSpPr/>
          <p:nvPr/>
        </p:nvSpPr>
        <p:spPr>
          <a:xfrm>
            <a:off x="457200" y="6519672"/>
            <a:ext cx="5486400" cy="274320"/>
          </a:xfrm>
          <a:prstGeom prst="rect">
            <a:avLst/>
          </a:prstGeom>
          <a:noFill/>
          <a:ln/>
        </p:spPr>
        <p:txBody>
          <a:bodyPr wrap="square" rtlCol="0" anchor="ctr"/>
          <a:lstStyle/>
          <a:p>
            <a:pPr algn="l" indent="0" marL="0">
              <a:buNone/>
            </a:pPr>
            <a:r>
              <a:rPr lang="en-US" sz="900" dirty="0">
                <a:solidFill>
                  <a:srgbClr val="6E8A8E"/>
                </a:solidFill>
                <a:latin typeface="Calibri" pitchFamily="34" charset="0"/>
                <a:ea typeface="Calibri" pitchFamily="34" charset="-122"/>
                <a:cs typeface="Calibri" pitchFamily="34" charset="-120"/>
              </a:rPr>
              <a:t>SI-PEKA · Sistem Penguji Kelayakan Air</a:t>
            </a:r>
            <a:endParaRPr lang="en-US" sz="900" dirty="0"/>
          </a:p>
        </p:txBody>
      </p:sp>
      <p:sp>
        <p:nvSpPr>
          <p:cNvPr id="28" name="Text 26"/>
          <p:cNvSpPr/>
          <p:nvPr/>
        </p:nvSpPr>
        <p:spPr>
          <a:xfrm>
            <a:off x="11430000" y="6519672"/>
            <a:ext cx="365760" cy="274320"/>
          </a:xfrm>
          <a:prstGeom prst="rect">
            <a:avLst/>
          </a:prstGeom>
          <a:noFill/>
          <a:ln/>
        </p:spPr>
        <p:txBody>
          <a:bodyPr wrap="square" rtlCol="0" anchor="ctr"/>
          <a:lstStyle/>
          <a:p>
            <a:pPr algn="r" indent="0" marL="0">
              <a:buNone/>
            </a:pPr>
            <a:r>
              <a:rPr lang="en-US" sz="900" dirty="0">
                <a:solidFill>
                  <a:srgbClr val="6E8A8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BAB 3 · PERANCANGAN SISTEM</a:t>
            </a:r>
            <a:endParaRPr lang="en-US" sz="1300" dirty="0"/>
          </a:p>
        </p:txBody>
      </p:sp>
      <p:sp>
        <p:nvSpPr>
          <p:cNvPr id="3" name="Text 1"/>
          <p:cNvSpPr/>
          <p:nvPr/>
        </p:nvSpPr>
        <p:spPr>
          <a:xfrm>
            <a:off x="548640" y="658368"/>
            <a:ext cx="10789920" cy="685800"/>
          </a:xfrm>
          <a:prstGeom prst="rect">
            <a:avLst/>
          </a:prstGeom>
          <a:noFill/>
          <a:ln/>
        </p:spPr>
        <p:txBody>
          <a:bodyPr wrap="square" rtlCol="0" anchor="ctr"/>
          <a:lstStyle/>
          <a:p>
            <a:pPr indent="0" marL="0">
              <a:buNone/>
            </a:pPr>
            <a:r>
              <a:rPr lang="en-US" sz="3000" b="1" dirty="0">
                <a:solidFill>
                  <a:srgbClr val="10262B"/>
                </a:solidFill>
                <a:latin typeface="Cambria" pitchFamily="34" charset="0"/>
                <a:ea typeface="Cambria" pitchFamily="34" charset="-122"/>
                <a:cs typeface="Cambria" pitchFamily="34" charset="-120"/>
              </a:rPr>
              <a:t>Alur Perhitungan di Sisi Klien</a:t>
            </a:r>
            <a:endParaRPr lang="en-US" sz="3000" dirty="0"/>
          </a:p>
        </p:txBody>
      </p:sp>
      <p:sp>
        <p:nvSpPr>
          <p:cNvPr id="4" name="Text 2"/>
          <p:cNvSpPr/>
          <p:nvPr/>
        </p:nvSpPr>
        <p:spPr>
          <a:xfrm>
            <a:off x="548640" y="1417320"/>
            <a:ext cx="10058400" cy="320040"/>
          </a:xfrm>
          <a:prstGeom prst="rect">
            <a:avLst/>
          </a:prstGeom>
          <a:noFill/>
          <a:ln/>
        </p:spPr>
        <p:txBody>
          <a:bodyPr wrap="square" rtlCol="0" anchor="ctr"/>
          <a:lstStyle/>
          <a:p>
            <a:pPr indent="0" marL="0">
              <a:buNone/>
            </a:pPr>
            <a:r>
              <a:rPr lang="en-US" sz="1300" i="1" dirty="0">
                <a:solidFill>
                  <a:srgbClr val="6E8A8E"/>
                </a:solidFill>
                <a:latin typeface="Calibri" pitchFamily="34" charset="0"/>
                <a:ea typeface="Calibri" pitchFamily="34" charset="-122"/>
                <a:cs typeface="Calibri" pitchFamily="34" charset="-120"/>
              </a:rPr>
              <a:t>Dijalankan pada script.js setiap kali tombol "Hitung Kelayakan" ditekan:</a:t>
            </a:r>
            <a:endParaRPr lang="en-US" sz="1300" dirty="0"/>
          </a:p>
        </p:txBody>
      </p:sp>
      <p:sp>
        <p:nvSpPr>
          <p:cNvPr id="5" name="Shape 3"/>
          <p:cNvSpPr/>
          <p:nvPr/>
        </p:nvSpPr>
        <p:spPr>
          <a:xfrm>
            <a:off x="548640" y="1920240"/>
            <a:ext cx="5394960" cy="2011680"/>
          </a:xfrm>
          <a:prstGeom prst="roundRect">
            <a:avLst>
              <a:gd name="adj" fmla="val 4545"/>
            </a:avLst>
          </a:prstGeom>
          <a:solidFill>
            <a:srgbClr val="10262B"/>
          </a:solidFill>
          <a:ln/>
        </p:spPr>
      </p:sp>
      <p:sp>
        <p:nvSpPr>
          <p:cNvPr id="6" name="Text 4"/>
          <p:cNvSpPr/>
          <p:nvPr/>
        </p:nvSpPr>
        <p:spPr>
          <a:xfrm>
            <a:off x="777240" y="2057400"/>
            <a:ext cx="4937760" cy="320040"/>
          </a:xfrm>
          <a:prstGeom prst="rect">
            <a:avLst/>
          </a:prstGeom>
          <a:noFill/>
          <a:ln/>
        </p:spPr>
        <p:txBody>
          <a:bodyPr wrap="square"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normPH(ph)</a:t>
            </a:r>
            <a:endParaRPr lang="en-US" sz="1300" dirty="0"/>
          </a:p>
        </p:txBody>
      </p:sp>
      <p:sp>
        <p:nvSpPr>
          <p:cNvPr id="7" name="Text 5"/>
          <p:cNvSpPr/>
          <p:nvPr/>
        </p:nvSpPr>
        <p:spPr>
          <a:xfrm>
            <a:off x="777240" y="2423160"/>
            <a:ext cx="4937760" cy="1371600"/>
          </a:xfrm>
          <a:prstGeom prst="rect">
            <a:avLst/>
          </a:prstGeom>
          <a:noFill/>
          <a:ln/>
        </p:spPr>
        <p:txBody>
          <a:bodyPr wrap="square" rtlCol="0" anchor="ctr"/>
          <a:lstStyle/>
          <a:p>
            <a:pPr indent="0" marL="0">
              <a:lnSpc>
                <a:spcPct val="135000"/>
              </a:lnSpc>
              <a:buNone/>
            </a:pPr>
            <a:r>
              <a:rPr lang="en-US" sz="1200" dirty="0">
                <a:solidFill>
                  <a:srgbClr val="E8F6F4"/>
                </a:solidFill>
                <a:latin typeface="Courier New" pitchFamily="34" charset="0"/>
                <a:ea typeface="Courier New" pitchFamily="34" charset="-122"/>
                <a:cs typeface="Courier New" pitchFamily="34" charset="-120"/>
              </a:rPr>
              <a:t>phClamped ← CLAMP(ph, 0, 14)</a:t>
            </a:r>
            <a:endParaRPr lang="en-US" sz="1200" dirty="0"/>
          </a:p>
          <a:p>
            <a:pPr indent="0" marL="0">
              <a:lnSpc>
                <a:spcPct val="135000"/>
              </a:lnSpc>
              <a:buNone/>
            </a:pPr>
            <a:r>
              <a:rPr lang="en-US" sz="1200" dirty="0">
                <a:solidFill>
                  <a:srgbClr val="E8F6F4"/>
                </a:solidFill>
                <a:latin typeface="Courier New" pitchFamily="34" charset="0"/>
                <a:ea typeface="Courier New" pitchFamily="34" charset="-122"/>
                <a:cs typeface="Courier New" pitchFamily="34" charset="-120"/>
              </a:rPr>
              <a:t>skor ← 1 − |phClamped − 7| / 7</a:t>
            </a:r>
            <a:endParaRPr lang="en-US" sz="1200" dirty="0"/>
          </a:p>
          <a:p>
            <a:pPr indent="0" marL="0">
              <a:lnSpc>
                <a:spcPct val="135000"/>
              </a:lnSpc>
              <a:buNone/>
            </a:pPr>
            <a:r>
              <a:rPr lang="en-US" sz="1200" dirty="0">
                <a:solidFill>
                  <a:srgbClr val="E8F6F4"/>
                </a:solidFill>
                <a:latin typeface="Courier New" pitchFamily="34" charset="0"/>
                <a:ea typeface="Courier New" pitchFamily="34" charset="-122"/>
                <a:cs typeface="Courier New" pitchFamily="34" charset="-120"/>
              </a:rPr>
              <a:t>RETURN CLAMP(skor, 0, 1)</a:t>
            </a:r>
            <a:endParaRPr lang="en-US" sz="1200" dirty="0"/>
          </a:p>
        </p:txBody>
      </p:sp>
      <p:sp>
        <p:nvSpPr>
          <p:cNvPr id="8" name="Shape 6"/>
          <p:cNvSpPr/>
          <p:nvPr/>
        </p:nvSpPr>
        <p:spPr>
          <a:xfrm>
            <a:off x="6172200" y="1920240"/>
            <a:ext cx="5394960" cy="2011680"/>
          </a:xfrm>
          <a:prstGeom prst="roundRect">
            <a:avLst>
              <a:gd name="adj" fmla="val 4545"/>
            </a:avLst>
          </a:prstGeom>
          <a:solidFill>
            <a:srgbClr val="10262B"/>
          </a:solidFill>
          <a:ln/>
        </p:spPr>
      </p:sp>
      <p:sp>
        <p:nvSpPr>
          <p:cNvPr id="9" name="Text 7"/>
          <p:cNvSpPr/>
          <p:nvPr/>
        </p:nvSpPr>
        <p:spPr>
          <a:xfrm>
            <a:off x="6400800" y="2057400"/>
            <a:ext cx="4937760" cy="320040"/>
          </a:xfrm>
          <a:prstGeom prst="rect">
            <a:avLst/>
          </a:prstGeom>
          <a:noFill/>
          <a:ln/>
        </p:spPr>
        <p:txBody>
          <a:bodyPr wrap="square"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normCost(value, max)</a:t>
            </a:r>
            <a:endParaRPr lang="en-US" sz="1300" dirty="0"/>
          </a:p>
        </p:txBody>
      </p:sp>
      <p:sp>
        <p:nvSpPr>
          <p:cNvPr id="10" name="Text 8"/>
          <p:cNvSpPr/>
          <p:nvPr/>
        </p:nvSpPr>
        <p:spPr>
          <a:xfrm>
            <a:off x="6400800" y="2423160"/>
            <a:ext cx="4937760" cy="1371600"/>
          </a:xfrm>
          <a:prstGeom prst="rect">
            <a:avLst/>
          </a:prstGeom>
          <a:noFill/>
          <a:ln/>
        </p:spPr>
        <p:txBody>
          <a:bodyPr wrap="square" rtlCol="0" anchor="ctr"/>
          <a:lstStyle/>
          <a:p>
            <a:pPr indent="0" marL="0">
              <a:lnSpc>
                <a:spcPct val="135000"/>
              </a:lnSpc>
              <a:buNone/>
            </a:pPr>
            <a:r>
              <a:rPr lang="en-US" sz="1200" dirty="0">
                <a:solidFill>
                  <a:srgbClr val="E8F6F4"/>
                </a:solidFill>
                <a:latin typeface="Courier New" pitchFamily="34" charset="0"/>
                <a:ea typeface="Courier New" pitchFamily="34" charset="-122"/>
                <a:cs typeface="Courier New" pitchFamily="34" charset="-120"/>
              </a:rPr>
              <a:t>v ← CLAMP(value, 0, max)</a:t>
            </a:r>
            <a:endParaRPr lang="en-US" sz="1200" dirty="0"/>
          </a:p>
          <a:p>
            <a:pPr indent="0" marL="0">
              <a:lnSpc>
                <a:spcPct val="135000"/>
              </a:lnSpc>
              <a:buNone/>
            </a:pPr>
            <a:r>
              <a:rPr lang="en-US" sz="1200" dirty="0">
                <a:solidFill>
                  <a:srgbClr val="E8F6F4"/>
                </a:solidFill>
                <a:latin typeface="Courier New" pitchFamily="34" charset="0"/>
                <a:ea typeface="Courier New" pitchFamily="34" charset="-122"/>
                <a:cs typeface="Courier New" pitchFamily="34" charset="-120"/>
              </a:rPr>
              <a:t>RETURN (max − v) / max</a:t>
            </a:r>
            <a:endParaRPr lang="en-US" sz="1200" dirty="0"/>
          </a:p>
        </p:txBody>
      </p:sp>
      <p:sp>
        <p:nvSpPr>
          <p:cNvPr id="11" name="Shape 9"/>
          <p:cNvSpPr/>
          <p:nvPr/>
        </p:nvSpPr>
        <p:spPr>
          <a:xfrm>
            <a:off x="548640" y="4114800"/>
            <a:ext cx="5394960" cy="2011680"/>
          </a:xfrm>
          <a:prstGeom prst="roundRect">
            <a:avLst>
              <a:gd name="adj" fmla="val 4545"/>
            </a:avLst>
          </a:prstGeom>
          <a:solidFill>
            <a:srgbClr val="10262B"/>
          </a:solidFill>
          <a:ln/>
        </p:spPr>
      </p:sp>
      <p:sp>
        <p:nvSpPr>
          <p:cNvPr id="12" name="Text 10"/>
          <p:cNvSpPr/>
          <p:nvPr/>
        </p:nvSpPr>
        <p:spPr>
          <a:xfrm>
            <a:off x="777240" y="4251960"/>
            <a:ext cx="4937760" cy="320040"/>
          </a:xfrm>
          <a:prstGeom prst="rect">
            <a:avLst/>
          </a:prstGeom>
          <a:noFill/>
          <a:ln/>
        </p:spPr>
        <p:txBody>
          <a:bodyPr wrap="square"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hitungVektorS(...)</a:t>
            </a:r>
            <a:endParaRPr lang="en-US" sz="1300" dirty="0"/>
          </a:p>
        </p:txBody>
      </p:sp>
      <p:sp>
        <p:nvSpPr>
          <p:cNvPr id="13" name="Text 11"/>
          <p:cNvSpPr/>
          <p:nvPr/>
        </p:nvSpPr>
        <p:spPr>
          <a:xfrm>
            <a:off x="777240" y="4617720"/>
            <a:ext cx="4937760" cy="1371600"/>
          </a:xfrm>
          <a:prstGeom prst="rect">
            <a:avLst/>
          </a:prstGeom>
          <a:noFill/>
          <a:ln/>
        </p:spPr>
        <p:txBody>
          <a:bodyPr wrap="square" rtlCol="0" anchor="ctr"/>
          <a:lstStyle/>
          <a:p>
            <a:pPr indent="0" marL="0">
              <a:lnSpc>
                <a:spcPct val="135000"/>
              </a:lnSpc>
              <a:buNone/>
            </a:pPr>
            <a:r>
              <a:rPr lang="en-US" sz="1200" dirty="0">
                <a:solidFill>
                  <a:srgbClr val="E8F6F4"/>
                </a:solidFill>
                <a:latin typeface="Courier New" pitchFamily="34" charset="0"/>
                <a:ea typeface="Courier New" pitchFamily="34" charset="-122"/>
                <a:cs typeface="Courier New" pitchFamily="34" charset="-120"/>
              </a:rPr>
              <a:t>RETURN s1^Wph × s2^Wtds × s3^Wturb</a:t>
            </a:r>
            <a:endParaRPr lang="en-US" sz="1200" dirty="0"/>
          </a:p>
        </p:txBody>
      </p:sp>
      <p:sp>
        <p:nvSpPr>
          <p:cNvPr id="14" name="Shape 12"/>
          <p:cNvSpPr/>
          <p:nvPr/>
        </p:nvSpPr>
        <p:spPr>
          <a:xfrm>
            <a:off x="6172200" y="4114800"/>
            <a:ext cx="5394960" cy="2011680"/>
          </a:xfrm>
          <a:prstGeom prst="roundRect">
            <a:avLst>
              <a:gd name="adj" fmla="val 4545"/>
            </a:avLst>
          </a:prstGeom>
          <a:solidFill>
            <a:srgbClr val="10262B"/>
          </a:solidFill>
          <a:ln/>
        </p:spPr>
      </p:sp>
      <p:sp>
        <p:nvSpPr>
          <p:cNvPr id="15" name="Text 13"/>
          <p:cNvSpPr/>
          <p:nvPr/>
        </p:nvSpPr>
        <p:spPr>
          <a:xfrm>
            <a:off x="6400800" y="4251960"/>
            <a:ext cx="4937760" cy="320040"/>
          </a:xfrm>
          <a:prstGeom prst="rect">
            <a:avLst/>
          </a:prstGeom>
          <a:noFill/>
          <a:ln/>
        </p:spPr>
        <p:txBody>
          <a:bodyPr wrap="square"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klasifikasi(V)</a:t>
            </a:r>
            <a:endParaRPr lang="en-US" sz="1300" dirty="0"/>
          </a:p>
        </p:txBody>
      </p:sp>
      <p:sp>
        <p:nvSpPr>
          <p:cNvPr id="16" name="Text 14"/>
          <p:cNvSpPr/>
          <p:nvPr/>
        </p:nvSpPr>
        <p:spPr>
          <a:xfrm>
            <a:off x="6400800" y="4617720"/>
            <a:ext cx="4937760" cy="1371600"/>
          </a:xfrm>
          <a:prstGeom prst="rect">
            <a:avLst/>
          </a:prstGeom>
          <a:noFill/>
          <a:ln/>
        </p:spPr>
        <p:txBody>
          <a:bodyPr wrap="square" rtlCol="0" anchor="ctr"/>
          <a:lstStyle/>
          <a:p>
            <a:pPr indent="0" marL="0">
              <a:lnSpc>
                <a:spcPct val="135000"/>
              </a:lnSpc>
              <a:buNone/>
            </a:pPr>
            <a:r>
              <a:rPr lang="en-US" sz="1200" dirty="0">
                <a:solidFill>
                  <a:srgbClr val="E8F6F4"/>
                </a:solidFill>
                <a:latin typeface="Courier New" pitchFamily="34" charset="0"/>
                <a:ea typeface="Courier New" pitchFamily="34" charset="-122"/>
                <a:cs typeface="Courier New" pitchFamily="34" charset="-120"/>
              </a:rPr>
              <a:t>IF V ≥ 0.7 → LAYAK</a:t>
            </a:r>
            <a:endParaRPr lang="en-US" sz="1200" dirty="0"/>
          </a:p>
          <a:p>
            <a:pPr indent="0" marL="0">
              <a:lnSpc>
                <a:spcPct val="135000"/>
              </a:lnSpc>
              <a:buNone/>
            </a:pPr>
            <a:r>
              <a:rPr lang="en-US" sz="1200" dirty="0">
                <a:solidFill>
                  <a:srgbClr val="E8F6F4"/>
                </a:solidFill>
                <a:latin typeface="Courier New" pitchFamily="34" charset="0"/>
                <a:ea typeface="Courier New" pitchFamily="34" charset="-122"/>
                <a:cs typeface="Courier New" pitchFamily="34" charset="-120"/>
              </a:rPr>
              <a:t>ELSE IF V ≥ 0.4 → WASPADA</a:t>
            </a:r>
            <a:endParaRPr lang="en-US" sz="1200" dirty="0"/>
          </a:p>
          <a:p>
            <a:pPr indent="0" marL="0">
              <a:lnSpc>
                <a:spcPct val="135000"/>
              </a:lnSpc>
              <a:buNone/>
            </a:pPr>
            <a:r>
              <a:rPr lang="en-US" sz="1200" dirty="0">
                <a:solidFill>
                  <a:srgbClr val="E8F6F4"/>
                </a:solidFill>
                <a:latin typeface="Courier New" pitchFamily="34" charset="0"/>
                <a:ea typeface="Courier New" pitchFamily="34" charset="-122"/>
                <a:cs typeface="Courier New" pitchFamily="34" charset="-120"/>
              </a:rPr>
              <a:t>ELSE → TIDAK LAYAK</a:t>
            </a:r>
            <a:endParaRPr lang="en-US" sz="1200" dirty="0"/>
          </a:p>
        </p:txBody>
      </p:sp>
      <p:sp>
        <p:nvSpPr>
          <p:cNvPr id="17" name="Text 15"/>
          <p:cNvSpPr/>
          <p:nvPr/>
        </p:nvSpPr>
        <p:spPr>
          <a:xfrm>
            <a:off x="457200" y="6519672"/>
            <a:ext cx="5486400" cy="274320"/>
          </a:xfrm>
          <a:prstGeom prst="rect">
            <a:avLst/>
          </a:prstGeom>
          <a:noFill/>
          <a:ln/>
        </p:spPr>
        <p:txBody>
          <a:bodyPr wrap="square" rtlCol="0" anchor="ctr"/>
          <a:lstStyle/>
          <a:p>
            <a:pPr algn="l" indent="0" marL="0">
              <a:buNone/>
            </a:pPr>
            <a:r>
              <a:rPr lang="en-US" sz="900" dirty="0">
                <a:solidFill>
                  <a:srgbClr val="6E8A8E"/>
                </a:solidFill>
                <a:latin typeface="Calibri" pitchFamily="34" charset="0"/>
                <a:ea typeface="Calibri" pitchFamily="34" charset="-122"/>
                <a:cs typeface="Calibri" pitchFamily="34" charset="-120"/>
              </a:rPr>
              <a:t>SI-PEKA · Sistem Penguji Kelayakan Air</a:t>
            </a:r>
            <a:endParaRPr lang="en-US" sz="900" dirty="0"/>
          </a:p>
        </p:txBody>
      </p:sp>
      <p:sp>
        <p:nvSpPr>
          <p:cNvPr id="18" name="Text 16"/>
          <p:cNvSpPr/>
          <p:nvPr/>
        </p:nvSpPr>
        <p:spPr>
          <a:xfrm>
            <a:off x="11430000" y="6519672"/>
            <a:ext cx="365760" cy="274320"/>
          </a:xfrm>
          <a:prstGeom prst="rect">
            <a:avLst/>
          </a:prstGeom>
          <a:noFill/>
          <a:ln/>
        </p:spPr>
        <p:txBody>
          <a:bodyPr wrap="square" rtlCol="0" anchor="ctr"/>
          <a:lstStyle/>
          <a:p>
            <a:pPr algn="r" indent="0" marL="0">
              <a:buNone/>
            </a:pPr>
            <a:r>
              <a:rPr lang="en-US" sz="900" dirty="0">
                <a:solidFill>
                  <a:srgbClr val="6E8A8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BAB 5 · ANALISIS SISTEM</a:t>
            </a:r>
            <a:endParaRPr lang="en-US" sz="1300" dirty="0"/>
          </a:p>
        </p:txBody>
      </p:sp>
      <p:sp>
        <p:nvSpPr>
          <p:cNvPr id="3" name="Text 1"/>
          <p:cNvSpPr/>
          <p:nvPr/>
        </p:nvSpPr>
        <p:spPr>
          <a:xfrm>
            <a:off x="548640" y="658368"/>
            <a:ext cx="10789920" cy="685800"/>
          </a:xfrm>
          <a:prstGeom prst="rect">
            <a:avLst/>
          </a:prstGeom>
          <a:noFill/>
          <a:ln/>
        </p:spPr>
        <p:txBody>
          <a:bodyPr wrap="square" rtlCol="0" anchor="ctr"/>
          <a:lstStyle/>
          <a:p>
            <a:pPr indent="0" marL="0">
              <a:buNone/>
            </a:pPr>
            <a:r>
              <a:rPr lang="en-US" sz="3000" b="1" dirty="0">
                <a:solidFill>
                  <a:srgbClr val="10262B"/>
                </a:solidFill>
                <a:latin typeface="Cambria" pitchFamily="34" charset="0"/>
                <a:ea typeface="Cambria" pitchFamily="34" charset="-122"/>
                <a:cs typeface="Cambria" pitchFamily="34" charset="-120"/>
              </a:rPr>
              <a:t>Contoh Perhitungan Manual</a:t>
            </a:r>
            <a:endParaRPr lang="en-US" sz="3000" dirty="0"/>
          </a:p>
        </p:txBody>
      </p:sp>
      <p:sp>
        <p:nvSpPr>
          <p:cNvPr id="4" name="Text 2"/>
          <p:cNvSpPr/>
          <p:nvPr/>
        </p:nvSpPr>
        <p:spPr>
          <a:xfrm>
            <a:off x="548640" y="1417320"/>
            <a:ext cx="10058400" cy="320040"/>
          </a:xfrm>
          <a:prstGeom prst="rect">
            <a:avLst/>
          </a:prstGeom>
          <a:noFill/>
          <a:ln/>
        </p:spPr>
        <p:txBody>
          <a:bodyPr wrap="square" rtlCol="0" anchor="ctr"/>
          <a:lstStyle/>
          <a:p>
            <a:pPr indent="0" marL="0">
              <a:buNone/>
            </a:pPr>
            <a:r>
              <a:rPr lang="en-US" sz="1300" i="1" dirty="0">
                <a:solidFill>
                  <a:srgbClr val="6E8A8E"/>
                </a:solidFill>
                <a:latin typeface="Calibri" pitchFamily="34" charset="0"/>
                <a:ea typeface="Calibri" pitchFamily="34" charset="-122"/>
                <a:cs typeface="Calibri" pitchFamily="34" charset="-120"/>
              </a:rPr>
              <a:t>Bobot default: Wph = 0,4 · Wtds = 0,3 · Wturb = 0,3</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6400800" cy="2011680"/>
        </p:xfrm>
        <a:graphic>
          <a:graphicData uri="http://schemas.openxmlformats.org/drawingml/2006/table">
            <a:tbl>
              <a:tblPr/>
              <a:tblGrid>
                <a:gridCol w="2011680"/>
                <a:gridCol w="2011680"/>
                <a:gridCol w="2377440"/>
              </a:tblGrid>
              <a:tr h="5029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Parameter</a:t>
                      </a:r>
                      <a:endParaRPr lang="en-US" sz="13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solidFill>
                      <a:srgbClr val="045C6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Nilai Mentah</a:t>
                      </a:r>
                      <a:endParaRPr lang="en-US" sz="13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solidFill>
                      <a:srgbClr val="045C6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Skor Normalisasi</a:t>
                      </a:r>
                      <a:endParaRPr lang="en-US" sz="13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solidFill>
                      <a:srgbClr val="045C63"/>
                    </a:solidFill>
                  </a:tcPr>
                </a:tc>
              </a:tr>
              <a:tr h="502920">
                <a:tc>
                  <a:txBody>
                    <a:bodyPr/>
                    <a:lstStyle/>
                    <a:p>
                      <a:pPr indent="0" marL="0">
                        <a:buNone/>
                      </a:pPr>
                      <a:r>
                        <a:rPr lang="en-US" sz="1300" dirty="0">
                          <a:solidFill>
                            <a:srgbClr val="3A5257"/>
                          </a:solidFill>
                          <a:latin typeface="Calibri" pitchFamily="34" charset="0"/>
                          <a:ea typeface="Calibri" pitchFamily="34" charset="-122"/>
                          <a:cs typeface="Calibri" pitchFamily="34" charset="-120"/>
                        </a:rPr>
                        <a:t>pH</a:t>
                      </a:r>
                      <a:endParaRPr lang="en-US" sz="13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300" dirty="0">
                          <a:solidFill>
                            <a:srgbClr val="3A5257"/>
                          </a:solidFill>
                          <a:latin typeface="Calibri" pitchFamily="34" charset="0"/>
                          <a:ea typeface="Calibri" pitchFamily="34" charset="-122"/>
                          <a:cs typeface="Calibri" pitchFamily="34" charset="-120"/>
                        </a:rPr>
                        <a:t>7,0</a:t>
                      </a:r>
                      <a:endParaRPr lang="en-US" sz="13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300" dirty="0">
                          <a:solidFill>
                            <a:srgbClr val="3A5257"/>
                          </a:solidFill>
                          <a:latin typeface="Calibri" pitchFamily="34" charset="0"/>
                          <a:ea typeface="Calibri" pitchFamily="34" charset="-122"/>
                          <a:cs typeface="Calibri" pitchFamily="34" charset="-120"/>
                        </a:rPr>
                        <a:t>1 − |7,0−7| / 7 = 1,0000</a:t>
                      </a:r>
                      <a:endParaRPr lang="en-US" sz="13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r>
              <a:tr h="502920">
                <a:tc>
                  <a:txBody>
                    <a:bodyPr/>
                    <a:lstStyle/>
                    <a:p>
                      <a:pPr indent="0" marL="0">
                        <a:buNone/>
                      </a:pPr>
                      <a:r>
                        <a:rPr lang="en-US" sz="1300" dirty="0">
                          <a:solidFill>
                            <a:srgbClr val="3A5257"/>
                          </a:solidFill>
                          <a:latin typeface="Calibri" pitchFamily="34" charset="0"/>
                          <a:ea typeface="Calibri" pitchFamily="34" charset="-122"/>
                          <a:cs typeface="Calibri" pitchFamily="34" charset="-120"/>
                        </a:rPr>
                        <a:t>TDS</a:t>
                      </a:r>
                      <a:endParaRPr lang="en-US" sz="13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300" dirty="0">
                          <a:solidFill>
                            <a:srgbClr val="3A5257"/>
                          </a:solidFill>
                          <a:latin typeface="Calibri" pitchFamily="34" charset="0"/>
                          <a:ea typeface="Calibri" pitchFamily="34" charset="-122"/>
                          <a:cs typeface="Calibri" pitchFamily="34" charset="-120"/>
                        </a:rPr>
                        <a:t>150 ppm</a:t>
                      </a:r>
                      <a:endParaRPr lang="en-US" sz="13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300" dirty="0">
                          <a:solidFill>
                            <a:srgbClr val="3A5257"/>
                          </a:solidFill>
                          <a:latin typeface="Calibri" pitchFamily="34" charset="0"/>
                          <a:ea typeface="Calibri" pitchFamily="34" charset="-122"/>
                          <a:cs typeface="Calibri" pitchFamily="34" charset="-120"/>
                        </a:rPr>
                        <a:t>(300−150) / 300 = 0,5000</a:t>
                      </a:r>
                      <a:endParaRPr lang="en-US" sz="13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r>
              <a:tr h="502920">
                <a:tc>
                  <a:txBody>
                    <a:bodyPr/>
                    <a:lstStyle/>
                    <a:p>
                      <a:pPr indent="0" marL="0">
                        <a:buNone/>
                      </a:pPr>
                      <a:r>
                        <a:rPr lang="en-US" sz="1300" dirty="0">
                          <a:solidFill>
                            <a:srgbClr val="3A5257"/>
                          </a:solidFill>
                          <a:latin typeface="Calibri" pitchFamily="34" charset="0"/>
                          <a:ea typeface="Calibri" pitchFamily="34" charset="-122"/>
                          <a:cs typeface="Calibri" pitchFamily="34" charset="-120"/>
                        </a:rPr>
                        <a:t>Turbidity</a:t>
                      </a:r>
                      <a:endParaRPr lang="en-US" sz="13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300" dirty="0">
                          <a:solidFill>
                            <a:srgbClr val="3A5257"/>
                          </a:solidFill>
                          <a:latin typeface="Calibri" pitchFamily="34" charset="0"/>
                          <a:ea typeface="Calibri" pitchFamily="34" charset="-122"/>
                          <a:cs typeface="Calibri" pitchFamily="34" charset="-120"/>
                        </a:rPr>
                        <a:t>1,5 NTU</a:t>
                      </a:r>
                      <a:endParaRPr lang="en-US" sz="13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300" dirty="0">
                          <a:solidFill>
                            <a:srgbClr val="3A5257"/>
                          </a:solidFill>
                          <a:latin typeface="Calibri" pitchFamily="34" charset="0"/>
                          <a:ea typeface="Calibri" pitchFamily="34" charset="-122"/>
                          <a:cs typeface="Calibri" pitchFamily="34" charset="-120"/>
                        </a:rPr>
                        <a:t>(3−1,5) / 3 = 0,5000</a:t>
                      </a:r>
                      <a:endParaRPr lang="en-US" sz="13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r>
            </a:tbl>
          </a:graphicData>
        </a:graphic>
      </p:graphicFrame>
      <p:sp>
        <p:nvSpPr>
          <p:cNvPr id="6" name="Text 3"/>
          <p:cNvSpPr/>
          <p:nvPr/>
        </p:nvSpPr>
        <p:spPr>
          <a:xfrm>
            <a:off x="548640" y="4160520"/>
            <a:ext cx="6400800" cy="457200"/>
          </a:xfrm>
          <a:prstGeom prst="rect">
            <a:avLst/>
          </a:prstGeom>
          <a:noFill/>
          <a:ln/>
        </p:spPr>
        <p:txBody>
          <a:bodyPr wrap="square" rtlCol="0" anchor="ctr"/>
          <a:lstStyle/>
          <a:p>
            <a:pPr indent="0" marL="0">
              <a:buNone/>
            </a:pPr>
            <a:r>
              <a:rPr lang="en-US" sz="1300" dirty="0">
                <a:solidFill>
                  <a:srgbClr val="3A5257"/>
                </a:solidFill>
                <a:latin typeface="Courier New" pitchFamily="34" charset="0"/>
                <a:ea typeface="Courier New" pitchFamily="34" charset="-122"/>
                <a:cs typeface="Courier New" pitchFamily="34" charset="-120"/>
              </a:rPr>
              <a:t>Vektor S = 1,0000</a:t>
            </a:r>
            <a:pPr indent="0" marL="0">
              <a:buNone/>
            </a:pPr>
            <a:r>
              <a:rPr lang="en-US" sz="900" baseline="30000" dirty="0">
                <a:solidFill>
                  <a:srgbClr val="3A5257"/>
                </a:solidFill>
                <a:latin typeface="Courier New" pitchFamily="34" charset="0"/>
                <a:ea typeface="Courier New" pitchFamily="34" charset="-122"/>
                <a:cs typeface="Courier New" pitchFamily="34" charset="-120"/>
              </a:rPr>
              <a:t>0,4</a:t>
            </a:r>
            <a:pPr indent="0" marL="0">
              <a:buNone/>
            </a:pPr>
            <a:r>
              <a:rPr lang="en-US" sz="1300" dirty="0">
                <a:solidFill>
                  <a:srgbClr val="3A5257"/>
                </a:solidFill>
                <a:latin typeface="Courier New" pitchFamily="34" charset="0"/>
                <a:ea typeface="Courier New" pitchFamily="34" charset="-122"/>
                <a:cs typeface="Courier New" pitchFamily="34" charset="-120"/>
              </a:rPr>
              <a:t> × 0,5000</a:t>
            </a:r>
            <a:pPr indent="0" marL="0">
              <a:buNone/>
            </a:pPr>
            <a:r>
              <a:rPr lang="en-US" sz="900" baseline="30000" dirty="0">
                <a:solidFill>
                  <a:srgbClr val="3A5257"/>
                </a:solidFill>
                <a:latin typeface="Courier New" pitchFamily="34" charset="0"/>
                <a:ea typeface="Courier New" pitchFamily="34" charset="-122"/>
                <a:cs typeface="Courier New" pitchFamily="34" charset="-120"/>
              </a:rPr>
              <a:t>0,3</a:t>
            </a:r>
            <a:pPr indent="0" marL="0">
              <a:buNone/>
            </a:pPr>
            <a:r>
              <a:rPr lang="en-US" sz="1300" dirty="0">
                <a:solidFill>
                  <a:srgbClr val="3A5257"/>
                </a:solidFill>
                <a:latin typeface="Courier New" pitchFamily="34" charset="0"/>
                <a:ea typeface="Courier New" pitchFamily="34" charset="-122"/>
                <a:cs typeface="Courier New" pitchFamily="34" charset="-120"/>
              </a:rPr>
              <a:t> × 0,5000</a:t>
            </a:r>
            <a:pPr indent="0" marL="0">
              <a:buNone/>
            </a:pPr>
            <a:r>
              <a:rPr lang="en-US" sz="900" baseline="30000" dirty="0">
                <a:solidFill>
                  <a:srgbClr val="3A5257"/>
                </a:solidFill>
                <a:latin typeface="Courier New" pitchFamily="34" charset="0"/>
                <a:ea typeface="Courier New" pitchFamily="34" charset="-122"/>
                <a:cs typeface="Courier New" pitchFamily="34" charset="-120"/>
              </a:rPr>
              <a:t>0,3</a:t>
            </a:r>
            <a:pPr indent="0" marL="0">
              <a:buNone/>
            </a:pPr>
            <a:r>
              <a:rPr lang="en-US" sz="1300" b="1" dirty="0">
                <a:solidFill>
                  <a:srgbClr val="3A5257"/>
                </a:solidFill>
                <a:latin typeface="Courier New" pitchFamily="34" charset="0"/>
                <a:ea typeface="Courier New" pitchFamily="34" charset="-122"/>
                <a:cs typeface="Courier New" pitchFamily="34" charset="-120"/>
              </a:rPr>
              <a:t> ≈ 0,6598</a:t>
            </a:r>
            <a:endParaRPr lang="en-US" sz="1300" dirty="0"/>
          </a:p>
        </p:txBody>
      </p:sp>
      <p:sp>
        <p:nvSpPr>
          <p:cNvPr id="7" name="Shape 4"/>
          <p:cNvSpPr/>
          <p:nvPr/>
        </p:nvSpPr>
        <p:spPr>
          <a:xfrm>
            <a:off x="7315200" y="1965960"/>
            <a:ext cx="4297680" cy="3246120"/>
          </a:xfrm>
          <a:prstGeom prst="roundRect">
            <a:avLst>
              <a:gd name="adj" fmla="val 3944"/>
            </a:avLst>
          </a:prstGeom>
          <a:solidFill>
            <a:srgbClr val="045C63"/>
          </a:solidFill>
          <a:ln/>
        </p:spPr>
      </p:sp>
      <p:sp>
        <p:nvSpPr>
          <p:cNvPr id="8" name="Text 5"/>
          <p:cNvSpPr/>
          <p:nvPr/>
        </p:nvSpPr>
        <p:spPr>
          <a:xfrm>
            <a:off x="7315200" y="2240280"/>
            <a:ext cx="4297680" cy="320040"/>
          </a:xfrm>
          <a:prstGeom prst="rect">
            <a:avLst/>
          </a:prstGeom>
          <a:noFill/>
          <a:ln/>
        </p:spPr>
        <p:txBody>
          <a:bodyPr wrap="square" rtlCol="0" anchor="ctr"/>
          <a:lstStyle/>
          <a:p>
            <a:pPr algn="ctr" indent="0" marL="0">
              <a:buNone/>
            </a:pPr>
            <a:r>
              <a:rPr lang="en-US" sz="1300" b="1" spc="200" kern="0" dirty="0">
                <a:solidFill>
                  <a:srgbClr val="02C39A"/>
                </a:solidFill>
                <a:latin typeface="Calibri" pitchFamily="34" charset="0"/>
                <a:ea typeface="Calibri" pitchFamily="34" charset="-122"/>
                <a:cs typeface="Calibri" pitchFamily="34" charset="-120"/>
              </a:rPr>
              <a:t>VEKTOR V</a:t>
            </a:r>
            <a:endParaRPr lang="en-US" sz="1300" dirty="0"/>
          </a:p>
        </p:txBody>
      </p:sp>
      <p:sp>
        <p:nvSpPr>
          <p:cNvPr id="9" name="Text 6"/>
          <p:cNvSpPr/>
          <p:nvPr/>
        </p:nvSpPr>
        <p:spPr>
          <a:xfrm>
            <a:off x="7315200" y="2560320"/>
            <a:ext cx="4297680" cy="914400"/>
          </a:xfrm>
          <a:prstGeom prst="rect">
            <a:avLst/>
          </a:prstGeom>
          <a:noFill/>
          <a:ln/>
        </p:spPr>
        <p:txBody>
          <a:bodyPr wrap="square"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0,6598</a:t>
            </a:r>
            <a:endParaRPr lang="en-US" sz="5200" dirty="0"/>
          </a:p>
        </p:txBody>
      </p:sp>
      <p:sp>
        <p:nvSpPr>
          <p:cNvPr id="10" name="Shape 7"/>
          <p:cNvSpPr/>
          <p:nvPr/>
        </p:nvSpPr>
        <p:spPr>
          <a:xfrm>
            <a:off x="8503920" y="3657600"/>
            <a:ext cx="1920240" cy="502920"/>
          </a:xfrm>
          <a:prstGeom prst="roundRect">
            <a:avLst>
              <a:gd name="adj" fmla="val 50909"/>
            </a:avLst>
          </a:prstGeom>
          <a:solidFill>
            <a:srgbClr val="E9C46A"/>
          </a:solidFill>
          <a:ln/>
        </p:spPr>
      </p:sp>
      <p:sp>
        <p:nvSpPr>
          <p:cNvPr id="11" name="Text 8"/>
          <p:cNvSpPr/>
          <p:nvPr/>
        </p:nvSpPr>
        <p:spPr>
          <a:xfrm>
            <a:off x="8503920" y="3657600"/>
            <a:ext cx="1920240" cy="502920"/>
          </a:xfrm>
          <a:prstGeom prst="rect">
            <a:avLst/>
          </a:prstGeom>
          <a:noFill/>
          <a:ln/>
        </p:spPr>
        <p:txBody>
          <a:bodyPr wrap="square" rtlCol="0" anchor="ctr"/>
          <a:lstStyle/>
          <a:p>
            <a:pPr algn="ctr" indent="0" marL="0">
              <a:buNone/>
            </a:pPr>
            <a:r>
              <a:rPr lang="en-US" sz="1400" b="1" dirty="0">
                <a:solidFill>
                  <a:srgbClr val="10262B"/>
                </a:solidFill>
                <a:latin typeface="Calibri" pitchFamily="34" charset="0"/>
                <a:ea typeface="Calibri" pitchFamily="34" charset="-122"/>
                <a:cs typeface="Calibri" pitchFamily="34" charset="-120"/>
              </a:rPr>
              <a:t>WASPADA</a:t>
            </a:r>
            <a:endParaRPr lang="en-US" sz="1400" dirty="0"/>
          </a:p>
        </p:txBody>
      </p:sp>
      <p:sp>
        <p:nvSpPr>
          <p:cNvPr id="12" name="Text 9"/>
          <p:cNvSpPr/>
          <p:nvPr/>
        </p:nvSpPr>
        <p:spPr>
          <a:xfrm>
            <a:off x="7589520" y="4343400"/>
            <a:ext cx="3749040" cy="822960"/>
          </a:xfrm>
          <a:prstGeom prst="rect">
            <a:avLst/>
          </a:prstGeom>
          <a:noFill/>
          <a:ln/>
        </p:spPr>
        <p:txBody>
          <a:bodyPr wrap="square" rtlCol="0" anchor="ctr"/>
          <a:lstStyle/>
          <a:p>
            <a:pPr algn="ctr" indent="0" marL="0">
              <a:lnSpc>
                <a:spcPct val="130000"/>
              </a:lnSpc>
              <a:buNone/>
            </a:pPr>
            <a:r>
              <a:rPr lang="en-US" sz="1150" dirty="0">
                <a:solidFill>
                  <a:srgbClr val="E8F6F4"/>
                </a:solidFill>
                <a:latin typeface="Calibri" pitchFamily="34" charset="0"/>
                <a:ea typeface="Calibri" pitchFamily="34" charset="-122"/>
                <a:cs typeface="Calibri" pitchFamily="34" charset="-120"/>
              </a:rPr>
              <a:t>0,4 ≤ 0,6598 &lt; 0,7 — kualitas air masih dapat diterima namun disarankan pemeriksaan lanjutan.</a:t>
            </a:r>
            <a:endParaRPr lang="en-US" sz="1150" dirty="0"/>
          </a:p>
        </p:txBody>
      </p:sp>
      <p:sp>
        <p:nvSpPr>
          <p:cNvPr id="13" name="Text 10"/>
          <p:cNvSpPr/>
          <p:nvPr/>
        </p:nvSpPr>
        <p:spPr>
          <a:xfrm>
            <a:off x="457200" y="6519672"/>
            <a:ext cx="5486400" cy="274320"/>
          </a:xfrm>
          <a:prstGeom prst="rect">
            <a:avLst/>
          </a:prstGeom>
          <a:noFill/>
          <a:ln/>
        </p:spPr>
        <p:txBody>
          <a:bodyPr wrap="square" rtlCol="0" anchor="ctr"/>
          <a:lstStyle/>
          <a:p>
            <a:pPr algn="l" indent="0" marL="0">
              <a:buNone/>
            </a:pPr>
            <a:r>
              <a:rPr lang="en-US" sz="900" dirty="0">
                <a:solidFill>
                  <a:srgbClr val="6E8A8E"/>
                </a:solidFill>
                <a:latin typeface="Calibri" pitchFamily="34" charset="0"/>
                <a:ea typeface="Calibri" pitchFamily="34" charset="-122"/>
                <a:cs typeface="Calibri" pitchFamily="34" charset="-120"/>
              </a:rPr>
              <a:t>SI-PEKA · Sistem Penguji Kelayakan Air</a:t>
            </a:r>
            <a:endParaRPr lang="en-US" sz="900" dirty="0"/>
          </a:p>
        </p:txBody>
      </p:sp>
      <p:sp>
        <p:nvSpPr>
          <p:cNvPr id="14" name="Text 11"/>
          <p:cNvSpPr/>
          <p:nvPr/>
        </p:nvSpPr>
        <p:spPr>
          <a:xfrm>
            <a:off x="11430000" y="6519672"/>
            <a:ext cx="365760" cy="274320"/>
          </a:xfrm>
          <a:prstGeom prst="rect">
            <a:avLst/>
          </a:prstGeom>
          <a:noFill/>
          <a:ln/>
        </p:spPr>
        <p:txBody>
          <a:bodyPr wrap="square" rtlCol="0" anchor="ctr"/>
          <a:lstStyle/>
          <a:p>
            <a:pPr algn="r" indent="0" marL="0">
              <a:buNone/>
            </a:pPr>
            <a:r>
              <a:rPr lang="en-US" sz="900" dirty="0">
                <a:solidFill>
                  <a:srgbClr val="6E8A8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BAB 4 · IMPLEMENTASI</a:t>
            </a:r>
            <a:endParaRPr lang="en-US" sz="1300" dirty="0"/>
          </a:p>
        </p:txBody>
      </p:sp>
      <p:sp>
        <p:nvSpPr>
          <p:cNvPr id="3" name="Text 1"/>
          <p:cNvSpPr/>
          <p:nvPr/>
        </p:nvSpPr>
        <p:spPr>
          <a:xfrm>
            <a:off x="548640" y="658368"/>
            <a:ext cx="10789920" cy="685800"/>
          </a:xfrm>
          <a:prstGeom prst="rect">
            <a:avLst/>
          </a:prstGeom>
          <a:noFill/>
          <a:ln/>
        </p:spPr>
        <p:txBody>
          <a:bodyPr wrap="square" rtlCol="0" anchor="ctr"/>
          <a:lstStyle/>
          <a:p>
            <a:pPr indent="0" marL="0">
              <a:buNone/>
            </a:pPr>
            <a:r>
              <a:rPr lang="en-US" sz="3000" b="1" dirty="0">
                <a:solidFill>
                  <a:srgbClr val="10262B"/>
                </a:solidFill>
                <a:latin typeface="Cambria" pitchFamily="34" charset="0"/>
                <a:ea typeface="Cambria" pitchFamily="34" charset="-122"/>
                <a:cs typeface="Cambria" pitchFamily="34" charset="-120"/>
              </a:rPr>
              <a:t>Fitur Utama Aplikasi</a:t>
            </a:r>
            <a:endParaRPr lang="en-US" sz="3000" dirty="0"/>
          </a:p>
        </p:txBody>
      </p:sp>
      <p:sp>
        <p:nvSpPr>
          <p:cNvPr id="4" name="Shape 2"/>
          <p:cNvSpPr/>
          <p:nvPr/>
        </p:nvSpPr>
        <p:spPr>
          <a:xfrm>
            <a:off x="548640" y="1600200"/>
            <a:ext cx="5440680" cy="2011680"/>
          </a:xfrm>
          <a:prstGeom prst="roundRect">
            <a:avLst>
              <a:gd name="adj" fmla="val 5455"/>
            </a:avLst>
          </a:prstGeom>
          <a:solidFill>
            <a:srgbClr val="F3FAF9"/>
          </a:solidFill>
          <a:ln/>
        </p:spPr>
      </p:sp>
      <p:sp>
        <p:nvSpPr>
          <p:cNvPr id="5" name="Shape 3"/>
          <p:cNvSpPr/>
          <p:nvPr/>
        </p:nvSpPr>
        <p:spPr>
          <a:xfrm>
            <a:off x="822960" y="1874520"/>
            <a:ext cx="548640" cy="548640"/>
          </a:xfrm>
          <a:prstGeom prst="ellipse">
            <a:avLst/>
          </a:prstGeom>
          <a:solidFill>
            <a:srgbClr val="028090"/>
          </a:solidFill>
          <a:ln/>
        </p:spPr>
      </p:sp>
      <p:sp>
        <p:nvSpPr>
          <p:cNvPr id="6" name="Text 4"/>
          <p:cNvSpPr/>
          <p:nvPr/>
        </p:nvSpPr>
        <p:spPr>
          <a:xfrm>
            <a:off x="822960" y="1856232"/>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554480" y="1856232"/>
            <a:ext cx="4160520" cy="365760"/>
          </a:xfrm>
          <a:prstGeom prst="rect">
            <a:avLst/>
          </a:prstGeom>
          <a:noFill/>
          <a:ln/>
        </p:spPr>
        <p:txBody>
          <a:bodyPr wrap="square" rtlCol="0" anchor="ctr"/>
          <a:lstStyle/>
          <a:p>
            <a:pPr indent="0" marL="0">
              <a:buNone/>
            </a:pPr>
            <a:r>
              <a:rPr lang="en-US" sz="1500" b="1" dirty="0">
                <a:solidFill>
                  <a:srgbClr val="10262B"/>
                </a:solidFill>
                <a:latin typeface="Calibri" pitchFamily="34" charset="0"/>
                <a:ea typeface="Calibri" pitchFamily="34" charset="-122"/>
                <a:cs typeface="Calibri" pitchFamily="34" charset="-120"/>
              </a:rPr>
              <a:t>Manajemen Depot</a:t>
            </a:r>
            <a:endParaRPr lang="en-US" sz="1500" dirty="0"/>
          </a:p>
        </p:txBody>
      </p:sp>
      <p:sp>
        <p:nvSpPr>
          <p:cNvPr id="8" name="Text 6"/>
          <p:cNvSpPr/>
          <p:nvPr/>
        </p:nvSpPr>
        <p:spPr>
          <a:xfrm>
            <a:off x="822960" y="2514600"/>
            <a:ext cx="4892040" cy="960120"/>
          </a:xfrm>
          <a:prstGeom prst="rect">
            <a:avLst/>
          </a:prstGeom>
          <a:noFill/>
          <a:ln/>
        </p:spPr>
        <p:txBody>
          <a:bodyPr wrap="square" rtlCol="0" anchor="ctr"/>
          <a:lstStyle/>
          <a:p>
            <a:pPr indent="0" marL="0">
              <a:lnSpc>
                <a:spcPct val="130000"/>
              </a:lnSpc>
              <a:buNone/>
            </a:pPr>
            <a:r>
              <a:rPr lang="en-US" sz="1250" dirty="0">
                <a:solidFill>
                  <a:srgbClr val="3A5257"/>
                </a:solidFill>
                <a:latin typeface="Calibri" pitchFamily="34" charset="0"/>
                <a:ea typeface="Calibri" pitchFamily="34" charset="-122"/>
                <a:cs typeface="Calibri" pitchFamily="34" charset="-120"/>
              </a:rPr>
              <a:t>Dropdown &amp; modal tambah depot baru, otomatis memperbarui pilihan</a:t>
            </a:r>
            <a:endParaRPr lang="en-US" sz="1250" dirty="0"/>
          </a:p>
        </p:txBody>
      </p:sp>
      <p:sp>
        <p:nvSpPr>
          <p:cNvPr id="9" name="Shape 7"/>
          <p:cNvSpPr/>
          <p:nvPr/>
        </p:nvSpPr>
        <p:spPr>
          <a:xfrm>
            <a:off x="6263640" y="1600200"/>
            <a:ext cx="5440680" cy="2011680"/>
          </a:xfrm>
          <a:prstGeom prst="roundRect">
            <a:avLst>
              <a:gd name="adj" fmla="val 5455"/>
            </a:avLst>
          </a:prstGeom>
          <a:solidFill>
            <a:srgbClr val="F3FAF9"/>
          </a:solidFill>
          <a:ln/>
        </p:spPr>
      </p:sp>
      <p:sp>
        <p:nvSpPr>
          <p:cNvPr id="10" name="Shape 8"/>
          <p:cNvSpPr/>
          <p:nvPr/>
        </p:nvSpPr>
        <p:spPr>
          <a:xfrm>
            <a:off x="6537960" y="1874520"/>
            <a:ext cx="548640" cy="548640"/>
          </a:xfrm>
          <a:prstGeom prst="ellipse">
            <a:avLst/>
          </a:prstGeom>
          <a:solidFill>
            <a:srgbClr val="065A82"/>
          </a:solidFill>
          <a:ln/>
        </p:spPr>
      </p:sp>
      <p:sp>
        <p:nvSpPr>
          <p:cNvPr id="11" name="Text 9"/>
          <p:cNvSpPr/>
          <p:nvPr/>
        </p:nvSpPr>
        <p:spPr>
          <a:xfrm>
            <a:off x="6537960" y="1856232"/>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7269480" y="1856232"/>
            <a:ext cx="4160520" cy="365760"/>
          </a:xfrm>
          <a:prstGeom prst="rect">
            <a:avLst/>
          </a:prstGeom>
          <a:noFill/>
          <a:ln/>
        </p:spPr>
        <p:txBody>
          <a:bodyPr wrap="square" rtlCol="0" anchor="ctr"/>
          <a:lstStyle/>
          <a:p>
            <a:pPr indent="0" marL="0">
              <a:buNone/>
            </a:pPr>
            <a:r>
              <a:rPr lang="en-US" sz="1500" b="1" dirty="0">
                <a:solidFill>
                  <a:srgbClr val="10262B"/>
                </a:solidFill>
                <a:latin typeface="Calibri" pitchFamily="34" charset="0"/>
                <a:ea typeface="Calibri" pitchFamily="34" charset="-122"/>
                <a:cs typeface="Calibri" pitchFamily="34" charset="-120"/>
              </a:rPr>
              <a:t>Perhitungan WP</a:t>
            </a:r>
            <a:endParaRPr lang="en-US" sz="1500" dirty="0"/>
          </a:p>
        </p:txBody>
      </p:sp>
      <p:sp>
        <p:nvSpPr>
          <p:cNvPr id="13" name="Text 11"/>
          <p:cNvSpPr/>
          <p:nvPr/>
        </p:nvSpPr>
        <p:spPr>
          <a:xfrm>
            <a:off x="6537960" y="2514600"/>
            <a:ext cx="4892040" cy="960120"/>
          </a:xfrm>
          <a:prstGeom prst="rect">
            <a:avLst/>
          </a:prstGeom>
          <a:noFill/>
          <a:ln/>
        </p:spPr>
        <p:txBody>
          <a:bodyPr wrap="square" rtlCol="0" anchor="ctr"/>
          <a:lstStyle/>
          <a:p>
            <a:pPr indent="0" marL="0">
              <a:lnSpc>
                <a:spcPct val="130000"/>
              </a:lnSpc>
              <a:buNone/>
            </a:pPr>
            <a:r>
              <a:rPr lang="en-US" sz="1250" dirty="0">
                <a:solidFill>
                  <a:srgbClr val="3A5257"/>
                </a:solidFill>
                <a:latin typeface="Calibri" pitchFamily="34" charset="0"/>
                <a:ea typeface="Calibri" pitchFamily="34" charset="-122"/>
                <a:cs typeface="Calibri" pitchFamily="34" charset="-120"/>
              </a:rPr>
              <a:t>Live preview, bobot kriteria dapat diatur, gauge visual &amp; efek confetti</a:t>
            </a:r>
            <a:endParaRPr lang="en-US" sz="1250" dirty="0"/>
          </a:p>
        </p:txBody>
      </p:sp>
      <p:sp>
        <p:nvSpPr>
          <p:cNvPr id="14" name="Shape 12"/>
          <p:cNvSpPr/>
          <p:nvPr/>
        </p:nvSpPr>
        <p:spPr>
          <a:xfrm>
            <a:off x="548640" y="3794760"/>
            <a:ext cx="5440680" cy="2011680"/>
          </a:xfrm>
          <a:prstGeom prst="roundRect">
            <a:avLst>
              <a:gd name="adj" fmla="val 5455"/>
            </a:avLst>
          </a:prstGeom>
          <a:solidFill>
            <a:srgbClr val="F3FAF9"/>
          </a:solidFill>
          <a:ln/>
        </p:spPr>
      </p:sp>
      <p:sp>
        <p:nvSpPr>
          <p:cNvPr id="15" name="Shape 13"/>
          <p:cNvSpPr/>
          <p:nvPr/>
        </p:nvSpPr>
        <p:spPr>
          <a:xfrm>
            <a:off x="822960" y="4069080"/>
            <a:ext cx="548640" cy="548640"/>
          </a:xfrm>
          <a:prstGeom prst="ellipse">
            <a:avLst/>
          </a:prstGeom>
          <a:solidFill>
            <a:srgbClr val="02C39A"/>
          </a:solidFill>
          <a:ln/>
        </p:spPr>
      </p:sp>
      <p:sp>
        <p:nvSpPr>
          <p:cNvPr id="16" name="Text 14"/>
          <p:cNvSpPr/>
          <p:nvPr/>
        </p:nvSpPr>
        <p:spPr>
          <a:xfrm>
            <a:off x="822960" y="4050792"/>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554480" y="4050792"/>
            <a:ext cx="4160520" cy="365760"/>
          </a:xfrm>
          <a:prstGeom prst="rect">
            <a:avLst/>
          </a:prstGeom>
          <a:noFill/>
          <a:ln/>
        </p:spPr>
        <p:txBody>
          <a:bodyPr wrap="square" rtlCol="0" anchor="ctr"/>
          <a:lstStyle/>
          <a:p>
            <a:pPr indent="0" marL="0">
              <a:buNone/>
            </a:pPr>
            <a:r>
              <a:rPr lang="en-US" sz="1500" b="1" dirty="0">
                <a:solidFill>
                  <a:srgbClr val="10262B"/>
                </a:solidFill>
                <a:latin typeface="Calibri" pitchFamily="34" charset="0"/>
                <a:ea typeface="Calibri" pitchFamily="34" charset="-122"/>
                <a:cs typeface="Calibri" pitchFamily="34" charset="-120"/>
              </a:rPr>
              <a:t>Riwayat Pemeriksaan</a:t>
            </a:r>
            <a:endParaRPr lang="en-US" sz="1500" dirty="0"/>
          </a:p>
        </p:txBody>
      </p:sp>
      <p:sp>
        <p:nvSpPr>
          <p:cNvPr id="18" name="Text 16"/>
          <p:cNvSpPr/>
          <p:nvPr/>
        </p:nvSpPr>
        <p:spPr>
          <a:xfrm>
            <a:off x="822960" y="4709160"/>
            <a:ext cx="4892040" cy="960120"/>
          </a:xfrm>
          <a:prstGeom prst="rect">
            <a:avLst/>
          </a:prstGeom>
          <a:noFill/>
          <a:ln/>
        </p:spPr>
        <p:txBody>
          <a:bodyPr wrap="square" rtlCol="0" anchor="ctr"/>
          <a:lstStyle/>
          <a:p>
            <a:pPr indent="0" marL="0">
              <a:lnSpc>
                <a:spcPct val="130000"/>
              </a:lnSpc>
              <a:buNone/>
            </a:pPr>
            <a:r>
              <a:rPr lang="en-US" sz="1250" dirty="0">
                <a:solidFill>
                  <a:srgbClr val="3A5257"/>
                </a:solidFill>
                <a:latin typeface="Calibri" pitchFamily="34" charset="0"/>
                <a:ea typeface="Calibri" pitchFamily="34" charset="-122"/>
                <a:cs typeface="Calibri" pitchFamily="34" charset="-120"/>
              </a:rPr>
              <a:t>Filter per depot/status, grafik tren, badge streak, ekspor Excel &amp; PDF</a:t>
            </a:r>
            <a:endParaRPr lang="en-US" sz="1250" dirty="0"/>
          </a:p>
        </p:txBody>
      </p:sp>
      <p:sp>
        <p:nvSpPr>
          <p:cNvPr id="19" name="Shape 17"/>
          <p:cNvSpPr/>
          <p:nvPr/>
        </p:nvSpPr>
        <p:spPr>
          <a:xfrm>
            <a:off x="6263640" y="3794760"/>
            <a:ext cx="5440680" cy="2011680"/>
          </a:xfrm>
          <a:prstGeom prst="roundRect">
            <a:avLst>
              <a:gd name="adj" fmla="val 5455"/>
            </a:avLst>
          </a:prstGeom>
          <a:solidFill>
            <a:srgbClr val="F3FAF9"/>
          </a:solidFill>
          <a:ln/>
        </p:spPr>
      </p:sp>
      <p:sp>
        <p:nvSpPr>
          <p:cNvPr id="20" name="Shape 18"/>
          <p:cNvSpPr/>
          <p:nvPr/>
        </p:nvSpPr>
        <p:spPr>
          <a:xfrm>
            <a:off x="6537960" y="4069080"/>
            <a:ext cx="548640" cy="548640"/>
          </a:xfrm>
          <a:prstGeom prst="ellipse">
            <a:avLst/>
          </a:prstGeom>
          <a:solidFill>
            <a:srgbClr val="E76F51"/>
          </a:solidFill>
          <a:ln/>
        </p:spPr>
      </p:sp>
      <p:sp>
        <p:nvSpPr>
          <p:cNvPr id="21" name="Text 19"/>
          <p:cNvSpPr/>
          <p:nvPr/>
        </p:nvSpPr>
        <p:spPr>
          <a:xfrm>
            <a:off x="6537960" y="4050792"/>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7269480" y="4050792"/>
            <a:ext cx="4160520" cy="365760"/>
          </a:xfrm>
          <a:prstGeom prst="rect">
            <a:avLst/>
          </a:prstGeom>
          <a:noFill/>
          <a:ln/>
        </p:spPr>
        <p:txBody>
          <a:bodyPr wrap="square" rtlCol="0" anchor="ctr"/>
          <a:lstStyle/>
          <a:p>
            <a:pPr indent="0" marL="0">
              <a:buNone/>
            </a:pPr>
            <a:r>
              <a:rPr lang="en-US" sz="1500" b="1" dirty="0">
                <a:solidFill>
                  <a:srgbClr val="10262B"/>
                </a:solidFill>
                <a:latin typeface="Calibri" pitchFamily="34" charset="0"/>
                <a:ea typeface="Calibri" pitchFamily="34" charset="-122"/>
                <a:cs typeface="Calibri" pitchFamily="34" charset="-120"/>
              </a:rPr>
              <a:t>Antarmuka Umum</a:t>
            </a:r>
            <a:endParaRPr lang="en-US" sz="1500" dirty="0"/>
          </a:p>
        </p:txBody>
      </p:sp>
      <p:sp>
        <p:nvSpPr>
          <p:cNvPr id="23" name="Text 21"/>
          <p:cNvSpPr/>
          <p:nvPr/>
        </p:nvSpPr>
        <p:spPr>
          <a:xfrm>
            <a:off x="6537960" y="4709160"/>
            <a:ext cx="4892040" cy="960120"/>
          </a:xfrm>
          <a:prstGeom prst="rect">
            <a:avLst/>
          </a:prstGeom>
          <a:noFill/>
          <a:ln/>
        </p:spPr>
        <p:txBody>
          <a:bodyPr wrap="square" rtlCol="0" anchor="ctr"/>
          <a:lstStyle/>
          <a:p>
            <a:pPr indent="0" marL="0">
              <a:lnSpc>
                <a:spcPct val="130000"/>
              </a:lnSpc>
              <a:buNone/>
            </a:pPr>
            <a:r>
              <a:rPr lang="en-US" sz="1250" dirty="0">
                <a:solidFill>
                  <a:srgbClr val="3A5257"/>
                </a:solidFill>
                <a:latin typeface="Calibri" pitchFamily="34" charset="0"/>
                <a:ea typeface="Calibri" pitchFamily="34" charset="-122"/>
                <a:cs typeface="Calibri" pitchFamily="34" charset="-120"/>
              </a:rPr>
              <a:t>Tema gelap/terang, notifikasi toast, klik ID sampel untuk memuat ulang nilai</a:t>
            </a:r>
            <a:endParaRPr lang="en-US" sz="1250" dirty="0"/>
          </a:p>
        </p:txBody>
      </p:sp>
      <p:sp>
        <p:nvSpPr>
          <p:cNvPr id="24" name="Text 22"/>
          <p:cNvSpPr/>
          <p:nvPr/>
        </p:nvSpPr>
        <p:spPr>
          <a:xfrm>
            <a:off x="457200" y="6519672"/>
            <a:ext cx="5486400" cy="274320"/>
          </a:xfrm>
          <a:prstGeom prst="rect">
            <a:avLst/>
          </a:prstGeom>
          <a:noFill/>
          <a:ln/>
        </p:spPr>
        <p:txBody>
          <a:bodyPr wrap="square" rtlCol="0" anchor="ctr"/>
          <a:lstStyle/>
          <a:p>
            <a:pPr algn="l" indent="0" marL="0">
              <a:buNone/>
            </a:pPr>
            <a:r>
              <a:rPr lang="en-US" sz="900" dirty="0">
                <a:solidFill>
                  <a:srgbClr val="6E8A8E"/>
                </a:solidFill>
                <a:latin typeface="Calibri" pitchFamily="34" charset="0"/>
                <a:ea typeface="Calibri" pitchFamily="34" charset="-122"/>
                <a:cs typeface="Calibri" pitchFamily="34" charset="-120"/>
              </a:rPr>
              <a:t>SI-PEKA · Sistem Penguji Kelayakan Air</a:t>
            </a:r>
            <a:endParaRPr lang="en-US" sz="900" dirty="0"/>
          </a:p>
        </p:txBody>
      </p:sp>
      <p:sp>
        <p:nvSpPr>
          <p:cNvPr id="25" name="Text 23"/>
          <p:cNvSpPr/>
          <p:nvPr/>
        </p:nvSpPr>
        <p:spPr>
          <a:xfrm>
            <a:off x="11430000" y="6519672"/>
            <a:ext cx="365760" cy="274320"/>
          </a:xfrm>
          <a:prstGeom prst="rect">
            <a:avLst/>
          </a:prstGeom>
          <a:noFill/>
          <a:ln/>
        </p:spPr>
        <p:txBody>
          <a:bodyPr wrap="square" rtlCol="0" anchor="ctr"/>
          <a:lstStyle/>
          <a:p>
            <a:pPr algn="r" indent="0" marL="0">
              <a:buNone/>
            </a:pPr>
            <a:r>
              <a:rPr lang="en-US" sz="900" dirty="0">
                <a:solidFill>
                  <a:srgbClr val="6E8A8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BAB 4 · IMPLEMENTASI</a:t>
            </a:r>
            <a:endParaRPr lang="en-US" sz="1300" dirty="0"/>
          </a:p>
        </p:txBody>
      </p:sp>
      <p:sp>
        <p:nvSpPr>
          <p:cNvPr id="3" name="Text 1"/>
          <p:cNvSpPr/>
          <p:nvPr/>
        </p:nvSpPr>
        <p:spPr>
          <a:xfrm>
            <a:off x="548640" y="658368"/>
            <a:ext cx="10789920" cy="685800"/>
          </a:xfrm>
          <a:prstGeom prst="rect">
            <a:avLst/>
          </a:prstGeom>
          <a:noFill/>
          <a:ln/>
        </p:spPr>
        <p:txBody>
          <a:bodyPr wrap="square" rtlCol="0" anchor="ctr"/>
          <a:lstStyle/>
          <a:p>
            <a:pPr indent="0" marL="0">
              <a:buNone/>
            </a:pPr>
            <a:r>
              <a:rPr lang="en-US" sz="3000" b="1" dirty="0">
                <a:solidFill>
                  <a:srgbClr val="10262B"/>
                </a:solidFill>
                <a:latin typeface="Cambria" pitchFamily="34" charset="0"/>
                <a:ea typeface="Cambria" pitchFamily="34" charset="-122"/>
                <a:cs typeface="Cambria" pitchFamily="34" charset="-120"/>
              </a:rPr>
              <a:t>Struktur Endpoint API (api.php)</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4572000"/>
        </p:xfrm>
        <a:graphic>
          <a:graphicData uri="http://schemas.openxmlformats.org/drawingml/2006/table">
            <a:tbl>
              <a:tblPr/>
              <a:tblGrid>
                <a:gridCol w="1463040"/>
                <a:gridCol w="2743200"/>
                <a:gridCol w="6858000"/>
              </a:tblGrid>
              <a:tr h="566928">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Method</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solidFill>
                      <a:srgbClr val="045C63"/>
                    </a:solidFill>
                  </a:tcPr>
                </a:tc>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Endpoint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solidFill>
                      <a:srgbClr val="045C63"/>
                    </a:solidFill>
                  </a:tcPr>
                </a:tc>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Deskripsi</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solidFill>
                      <a:srgbClr val="045C63"/>
                    </a:solidFill>
                  </a:tcPr>
                </a:tc>
              </a:tr>
              <a:tr h="566928">
                <a:tc>
                  <a:txBody>
                    <a:bodyPr/>
                    <a:lstStyle/>
                    <a:p>
                      <a:pPr indent="0" marL="0">
                        <a:buNone/>
                      </a:pPr>
                      <a:r>
                        <a:rPr lang="en-US" sz="1200" dirty="0">
                          <a:solidFill>
                            <a:srgbClr val="3A5257"/>
                          </a:solidFill>
                          <a:latin typeface="Courier New" pitchFamily="34" charset="0"/>
                          <a:ea typeface="Courier New" pitchFamily="34" charset="-122"/>
                          <a:cs typeface="Courier New" pitchFamily="34" charset="-120"/>
                        </a:rPr>
                        <a:t>GET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ourier New" pitchFamily="34" charset="0"/>
                          <a:ea typeface="Courier New" pitchFamily="34" charset="-122"/>
                          <a:cs typeface="Courier New" pitchFamily="34" charset="-120"/>
                        </a:rPr>
                        <a:t>?action=history</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ourier New" pitchFamily="34" charset="0"/>
                          <a:ea typeface="Courier New" pitchFamily="34" charset="-122"/>
                          <a:cs typeface="Courier New" pitchFamily="34" charset="-120"/>
                        </a:rPr>
                        <a:t>Ambil seluruh riwayat pemeriksaan (JOIN data_depot), terbaru dulu</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r>
              <a:tr h="566928">
                <a:tc>
                  <a:txBody>
                    <a:bodyPr/>
                    <a:lstStyle/>
                    <a:p>
                      <a:pPr indent="0" marL="0">
                        <a:buNone/>
                      </a:pPr>
                      <a:r>
                        <a:rPr lang="en-US" sz="1200" dirty="0">
                          <a:solidFill>
                            <a:srgbClr val="3A5257"/>
                          </a:solidFill>
                          <a:latin typeface="Courier New" pitchFamily="34" charset="0"/>
                          <a:ea typeface="Courier New" pitchFamily="34" charset="-122"/>
                          <a:cs typeface="Courier New" pitchFamily="34" charset="-120"/>
                        </a:rPr>
                        <a:t>POST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ourier New" pitchFamily="34" charset="0"/>
                          <a:ea typeface="Courier New" pitchFamily="34" charset="-122"/>
                          <a:cs typeface="Courier New" pitchFamily="34" charset="-120"/>
                        </a:rPr>
                        <a:t>?action=history</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ourier New" pitchFamily="34" charset="0"/>
                          <a:ea typeface="Courier New" pitchFamily="34" charset="-122"/>
                          <a:cs typeface="Courier New" pitchFamily="34" charset="-120"/>
                        </a:rPr>
                        <a:t>Simpan satu riwayat pemeriksaan baru, termasuk id_depot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r>
              <a:tr h="566928">
                <a:tc>
                  <a:txBody>
                    <a:bodyPr/>
                    <a:lstStyle/>
                    <a:p>
                      <a:pPr indent="0" marL="0">
                        <a:buNone/>
                      </a:pPr>
                      <a:r>
                        <a:rPr lang="en-US" sz="1200" dirty="0">
                          <a:solidFill>
                            <a:srgbClr val="3A5257"/>
                          </a:solidFill>
                          <a:latin typeface="Courier New" pitchFamily="34" charset="0"/>
                          <a:ea typeface="Courier New" pitchFamily="34" charset="-122"/>
                          <a:cs typeface="Courier New" pitchFamily="34" charset="-120"/>
                        </a:rPr>
                        <a:t>GET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ourier New" pitchFamily="34" charset="0"/>
                          <a:ea typeface="Courier New" pitchFamily="34" charset="-122"/>
                          <a:cs typeface="Courier New" pitchFamily="34" charset="-120"/>
                        </a:rPr>
                        <a:t>?action=depot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ourier New" pitchFamily="34" charset="0"/>
                          <a:ea typeface="Courier New" pitchFamily="34" charset="-122"/>
                          <a:cs typeface="Courier New" pitchFamily="34" charset="-120"/>
                        </a:rPr>
                        <a:t>Ambil seluruh data depot untuk dropdown</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r>
              <a:tr h="566928">
                <a:tc>
                  <a:txBody>
                    <a:bodyPr/>
                    <a:lstStyle/>
                    <a:p>
                      <a:pPr indent="0" marL="0">
                        <a:buNone/>
                      </a:pPr>
                      <a:r>
                        <a:rPr lang="en-US" sz="1200" dirty="0">
                          <a:solidFill>
                            <a:srgbClr val="3A5257"/>
                          </a:solidFill>
                          <a:latin typeface="Courier New" pitchFamily="34" charset="0"/>
                          <a:ea typeface="Courier New" pitchFamily="34" charset="-122"/>
                          <a:cs typeface="Courier New" pitchFamily="34" charset="-120"/>
                        </a:rPr>
                        <a:t>POST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ourier New" pitchFamily="34" charset="0"/>
                          <a:ea typeface="Courier New" pitchFamily="34" charset="-122"/>
                          <a:cs typeface="Courier New" pitchFamily="34" charset="-120"/>
                        </a:rPr>
                        <a:t>?action=depot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ourier New" pitchFamily="34" charset="0"/>
                          <a:ea typeface="Courier New" pitchFamily="34" charset="-122"/>
                          <a:cs typeface="Courier New" pitchFamily="34" charset="-120"/>
                        </a:rPr>
                        <a:t>Simpan data depot baru (nama, alamat, kontak)</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r>
              <a:tr h="566928">
                <a:tc>
                  <a:txBody>
                    <a:bodyPr/>
                    <a:lstStyle/>
                    <a:p>
                      <a:pPr indent="0" marL="0">
                        <a:buNone/>
                      </a:pPr>
                      <a:r>
                        <a:rPr lang="en-US" sz="1200" dirty="0">
                          <a:solidFill>
                            <a:srgbClr val="3A5257"/>
                          </a:solidFill>
                          <a:latin typeface="Courier New" pitchFamily="34" charset="0"/>
                          <a:ea typeface="Courier New" pitchFamily="34" charset="-122"/>
                          <a:cs typeface="Courier New" pitchFamily="34" charset="-120"/>
                        </a:rPr>
                        <a:t>GET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ourier New" pitchFamily="34" charset="0"/>
                          <a:ea typeface="Courier New" pitchFamily="34" charset="-122"/>
                          <a:cs typeface="Courier New" pitchFamily="34" charset="-120"/>
                        </a:rPr>
                        <a:t>?action=bobot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ourier New" pitchFamily="34" charset="0"/>
                          <a:ea typeface="Courier New" pitchFamily="34" charset="-122"/>
                          <a:cs typeface="Courier New" pitchFamily="34" charset="-120"/>
                        </a:rPr>
                        <a:t>Ambil bobot kriteria yang sedang aktif</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r>
              <a:tr h="566928">
                <a:tc>
                  <a:txBody>
                    <a:bodyPr/>
                    <a:lstStyle/>
                    <a:p>
                      <a:pPr indent="0" marL="0">
                        <a:buNone/>
                      </a:pPr>
                      <a:r>
                        <a:rPr lang="en-US" sz="1200" dirty="0">
                          <a:solidFill>
                            <a:srgbClr val="3A5257"/>
                          </a:solidFill>
                          <a:latin typeface="Courier New" pitchFamily="34" charset="0"/>
                          <a:ea typeface="Courier New" pitchFamily="34" charset="-122"/>
                          <a:cs typeface="Courier New" pitchFamily="34" charset="-120"/>
                        </a:rPr>
                        <a:t>POST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ourier New" pitchFamily="34" charset="0"/>
                          <a:ea typeface="Courier New" pitchFamily="34" charset="-122"/>
                          <a:cs typeface="Courier New" pitchFamily="34" charset="-120"/>
                        </a:rPr>
                        <a:t>?action=bobot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ourier New" pitchFamily="34" charset="0"/>
                          <a:ea typeface="Courier New" pitchFamily="34" charset="-122"/>
                          <a:cs typeface="Courier New" pitchFamily="34" charset="-120"/>
                        </a:rPr>
                        <a:t>Perbarui bobot kriteria pH/TDS/Turbidity</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r>
              <a:tr h="566928">
                <a:tc>
                  <a:txBody>
                    <a:bodyPr/>
                    <a:lstStyle/>
                    <a:p>
                      <a:pPr indent="0" marL="0">
                        <a:buNone/>
                      </a:pPr>
                      <a:r>
                        <a:rPr lang="en-US" sz="1200" dirty="0">
                          <a:solidFill>
                            <a:srgbClr val="3A5257"/>
                          </a:solidFill>
                          <a:latin typeface="Courier New" pitchFamily="34" charset="0"/>
                          <a:ea typeface="Courier New" pitchFamily="34" charset="-122"/>
                          <a:cs typeface="Courier New" pitchFamily="34" charset="-120"/>
                        </a:rPr>
                        <a:t>POST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ourier New" pitchFamily="34" charset="0"/>
                          <a:ea typeface="Courier New" pitchFamily="34" charset="-122"/>
                          <a:cs typeface="Courier New" pitchFamily="34" charset="-120"/>
                        </a:rPr>
                        <a:t>?action=reset_history</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ourier New" pitchFamily="34" charset="0"/>
                          <a:ea typeface="Courier New" pitchFamily="34" charset="-122"/>
                          <a:cs typeface="Courier New" pitchFamily="34" charset="-120"/>
                        </a:rPr>
                        <a:t>Hapus seluruh isi tabel riwayat_pemeriksaan</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r>
            </a:tbl>
          </a:graphicData>
        </a:graphic>
      </p:graphicFrame>
      <p:sp>
        <p:nvSpPr>
          <p:cNvPr id="5" name="Text 2"/>
          <p:cNvSpPr/>
          <p:nvPr/>
        </p:nvSpPr>
        <p:spPr>
          <a:xfrm>
            <a:off x="457200" y="6519672"/>
            <a:ext cx="5486400" cy="274320"/>
          </a:xfrm>
          <a:prstGeom prst="rect">
            <a:avLst/>
          </a:prstGeom>
          <a:noFill/>
          <a:ln/>
        </p:spPr>
        <p:txBody>
          <a:bodyPr wrap="square" rtlCol="0" anchor="ctr"/>
          <a:lstStyle/>
          <a:p>
            <a:pPr algn="l" indent="0" marL="0">
              <a:buNone/>
            </a:pPr>
            <a:r>
              <a:rPr lang="en-US" sz="900" dirty="0">
                <a:solidFill>
                  <a:srgbClr val="6E8A8E"/>
                </a:solidFill>
                <a:latin typeface="Calibri" pitchFamily="34" charset="0"/>
                <a:ea typeface="Calibri" pitchFamily="34" charset="-122"/>
                <a:cs typeface="Calibri" pitchFamily="34" charset="-120"/>
              </a:rPr>
              <a:t>SI-PEKA · Sistem Penguji Kelayakan Air</a:t>
            </a:r>
            <a:endParaRPr lang="en-US" sz="900" dirty="0"/>
          </a:p>
        </p:txBody>
      </p:sp>
      <p:sp>
        <p:nvSpPr>
          <p:cNvPr id="6" name="Text 3"/>
          <p:cNvSpPr/>
          <p:nvPr/>
        </p:nvSpPr>
        <p:spPr>
          <a:xfrm>
            <a:off x="11430000" y="6519672"/>
            <a:ext cx="365760" cy="274320"/>
          </a:xfrm>
          <a:prstGeom prst="rect">
            <a:avLst/>
          </a:prstGeom>
          <a:noFill/>
          <a:ln/>
        </p:spPr>
        <p:txBody>
          <a:bodyPr wrap="square" rtlCol="0" anchor="ctr"/>
          <a:lstStyle/>
          <a:p>
            <a:pPr algn="r" indent="0" marL="0">
              <a:buNone/>
            </a:pPr>
            <a:r>
              <a:rPr lang="en-US" sz="900" dirty="0">
                <a:solidFill>
                  <a:srgbClr val="6E8A8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BAB 6 · PENGUJIAN</a:t>
            </a:r>
            <a:endParaRPr lang="en-US" sz="1300" dirty="0"/>
          </a:p>
        </p:txBody>
      </p:sp>
      <p:sp>
        <p:nvSpPr>
          <p:cNvPr id="3" name="Text 1"/>
          <p:cNvSpPr/>
          <p:nvPr/>
        </p:nvSpPr>
        <p:spPr>
          <a:xfrm>
            <a:off x="548640" y="658368"/>
            <a:ext cx="10789920" cy="685800"/>
          </a:xfrm>
          <a:prstGeom prst="rect">
            <a:avLst/>
          </a:prstGeom>
          <a:noFill/>
          <a:ln/>
        </p:spPr>
        <p:txBody>
          <a:bodyPr wrap="square" rtlCol="0" anchor="ctr"/>
          <a:lstStyle/>
          <a:p>
            <a:pPr indent="0" marL="0">
              <a:buNone/>
            </a:pPr>
            <a:r>
              <a:rPr lang="en-US" sz="3000" b="1" dirty="0">
                <a:solidFill>
                  <a:srgbClr val="10262B"/>
                </a:solidFill>
                <a:latin typeface="Cambria" pitchFamily="34" charset="0"/>
                <a:ea typeface="Cambria" pitchFamily="34" charset="-122"/>
                <a:cs typeface="Cambria" pitchFamily="34" charset="-120"/>
              </a:rPr>
              <a:t>Skenario Pengujian (Black-Box)</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3383280"/>
        </p:xfrm>
        <a:graphic>
          <a:graphicData uri="http://schemas.openxmlformats.org/drawingml/2006/table">
            <a:tbl>
              <a:tblPr/>
              <a:tblGrid>
                <a:gridCol w="2743200"/>
                <a:gridCol w="2377440"/>
                <a:gridCol w="4389120"/>
                <a:gridCol w="1554480"/>
              </a:tblGrid>
              <a:tr h="58521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Skenario Uji</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solidFill>
                      <a:srgbClr val="045C6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Input</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solidFill>
                      <a:srgbClr val="045C6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Output Diharapkan</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solidFill>
                      <a:srgbClr val="045C6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Hasil</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solidFill>
                      <a:srgbClr val="045C63"/>
                    </a:solidFill>
                  </a:tcPr>
                </a:tc>
              </a:tr>
              <a:tr h="585216">
                <a:tc>
                  <a:txBody>
                    <a:bodyPr/>
                    <a:lstStyle/>
                    <a:p>
                      <a:pPr indent="0" marL="0">
                        <a:buNone/>
                      </a:pPr>
                      <a:r>
                        <a:rPr lang="en-US" sz="1200" dirty="0">
                          <a:solidFill>
                            <a:srgbClr val="3A5257"/>
                          </a:solidFill>
                          <a:latin typeface="Calibri" pitchFamily="34" charset="0"/>
                          <a:ea typeface="Calibri" pitchFamily="34" charset="-122"/>
                          <a:cs typeface="Calibri" pitchFamily="34" charset="-120"/>
                        </a:rPr>
                        <a:t>pH tepat ideal</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alibri" pitchFamily="34" charset="0"/>
                          <a:ea typeface="Calibri" pitchFamily="34" charset="-122"/>
                          <a:cs typeface="Calibri" pitchFamily="34" charset="-120"/>
                        </a:rPr>
                        <a:t>pH = 7,0</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alibri" pitchFamily="34" charset="0"/>
                          <a:ea typeface="Calibri" pitchFamily="34" charset="-122"/>
                          <a:cs typeface="Calibri" pitchFamily="34" charset="-120"/>
                        </a:rPr>
                        <a:t>Skor normalisasi pH = 1,0</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b="1" dirty="0">
                          <a:solidFill>
                            <a:srgbClr val="045C63"/>
                          </a:solidFill>
                          <a:latin typeface="Calibri" pitchFamily="34" charset="0"/>
                          <a:ea typeface="Calibri" pitchFamily="34" charset="-122"/>
                          <a:cs typeface="Calibri" pitchFamily="34" charset="-120"/>
                        </a:rPr>
                        <a:t>Lulus</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r>
              <a:tr h="585216">
                <a:tc>
                  <a:txBody>
                    <a:bodyPr/>
                    <a:lstStyle/>
                    <a:p>
                      <a:pPr indent="0" marL="0">
                        <a:buNone/>
                      </a:pPr>
                      <a:r>
                        <a:rPr lang="en-US" sz="1200" dirty="0">
                          <a:solidFill>
                            <a:srgbClr val="3A5257"/>
                          </a:solidFill>
                          <a:latin typeface="Calibri" pitchFamily="34" charset="0"/>
                          <a:ea typeface="Calibri" pitchFamily="34" charset="-122"/>
                          <a:cs typeface="Calibri" pitchFamily="34" charset="-120"/>
                        </a:rPr>
                        <a:t>TDS melebihi baku mutu</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alibri" pitchFamily="34" charset="0"/>
                          <a:ea typeface="Calibri" pitchFamily="34" charset="-122"/>
                          <a:cs typeface="Calibri" pitchFamily="34" charset="-120"/>
                        </a:rPr>
                        <a:t>TDS = 450 ppm</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alibri" pitchFamily="34" charset="0"/>
                          <a:ea typeface="Calibri" pitchFamily="34" charset="-122"/>
                          <a:cs typeface="Calibri" pitchFamily="34" charset="-120"/>
                        </a:rPr>
                        <a:t>Diklem ke 300 → skor 0 → cenderung Tidak Layak</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b="1" dirty="0">
                          <a:solidFill>
                            <a:srgbClr val="045C63"/>
                          </a:solidFill>
                          <a:latin typeface="Calibri" pitchFamily="34" charset="0"/>
                          <a:ea typeface="Calibri" pitchFamily="34" charset="-122"/>
                          <a:cs typeface="Calibri" pitchFamily="34" charset="-120"/>
                        </a:rPr>
                        <a:t>Lulus</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r>
              <a:tr h="585216">
                <a:tc>
                  <a:txBody>
                    <a:bodyPr/>
                    <a:lstStyle/>
                    <a:p>
                      <a:pPr indent="0" marL="0">
                        <a:buNone/>
                      </a:pPr>
                      <a:r>
                        <a:rPr lang="en-US" sz="1200" dirty="0">
                          <a:solidFill>
                            <a:srgbClr val="3A5257"/>
                          </a:solidFill>
                          <a:latin typeface="Calibri" pitchFamily="34" charset="0"/>
                          <a:ea typeface="Calibri" pitchFamily="34" charset="-122"/>
                          <a:cs typeface="Calibri" pitchFamily="34" charset="-120"/>
                        </a:rPr>
                        <a:t>Simpan tanpa pilih depot</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alibri" pitchFamily="34" charset="0"/>
                          <a:ea typeface="Calibri" pitchFamily="34" charset="-122"/>
                          <a:cs typeface="Calibri" pitchFamily="34" charset="-120"/>
                        </a:rPr>
                        <a:t>Depot belum dipilih</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alibri" pitchFamily="34" charset="0"/>
                          <a:ea typeface="Calibri" pitchFamily="34" charset="-122"/>
                          <a:cs typeface="Calibri" pitchFamily="34" charset="-120"/>
                        </a:rPr>
                        <a:t>Toast peringatan, data tidak terkirim</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b="1" dirty="0">
                          <a:solidFill>
                            <a:srgbClr val="045C63"/>
                          </a:solidFill>
                          <a:latin typeface="Calibri" pitchFamily="34" charset="0"/>
                          <a:ea typeface="Calibri" pitchFamily="34" charset="-122"/>
                          <a:cs typeface="Calibri" pitchFamily="34" charset="-120"/>
                        </a:rPr>
                        <a:t>Lulus</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r>
              <a:tr h="585216">
                <a:tc>
                  <a:txBody>
                    <a:bodyPr/>
                    <a:lstStyle/>
                    <a:p>
                      <a:pPr indent="0" marL="0">
                        <a:buNone/>
                      </a:pPr>
                      <a:r>
                        <a:rPr lang="en-US" sz="1200" dirty="0">
                          <a:solidFill>
                            <a:srgbClr val="3A5257"/>
                          </a:solidFill>
                          <a:latin typeface="Calibri" pitchFamily="34" charset="0"/>
                          <a:ea typeface="Calibri" pitchFamily="34" charset="-122"/>
                          <a:cs typeface="Calibri" pitchFamily="34" charset="-120"/>
                        </a:rPr>
                        <a:t>Kombinasi filter</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alibri" pitchFamily="34" charset="0"/>
                          <a:ea typeface="Calibri" pitchFamily="34" charset="-122"/>
                          <a:cs typeface="Calibri" pitchFamily="34" charset="-120"/>
                        </a:rPr>
                        <a:t>Depot X, status Layak</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alibri" pitchFamily="34" charset="0"/>
                          <a:ea typeface="Calibri" pitchFamily="34" charset="-122"/>
                          <a:cs typeface="Calibri" pitchFamily="34" charset="-120"/>
                        </a:rPr>
                        <a:t>Hanya baris depot X berstatus Layak tampil</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b="1" dirty="0">
                          <a:solidFill>
                            <a:srgbClr val="045C63"/>
                          </a:solidFill>
                          <a:latin typeface="Calibri" pitchFamily="34" charset="0"/>
                          <a:ea typeface="Calibri" pitchFamily="34" charset="-122"/>
                          <a:cs typeface="Calibri" pitchFamily="34" charset="-120"/>
                        </a:rPr>
                        <a:t>Lulus</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r>
              <a:tr h="585216">
                <a:tc>
                  <a:txBody>
                    <a:bodyPr/>
                    <a:lstStyle/>
                    <a:p>
                      <a:pPr indent="0" marL="0">
                        <a:buNone/>
                      </a:pPr>
                      <a:r>
                        <a:rPr lang="en-US" sz="1200" dirty="0">
                          <a:solidFill>
                            <a:srgbClr val="3A5257"/>
                          </a:solidFill>
                          <a:latin typeface="Calibri" pitchFamily="34" charset="0"/>
                          <a:ea typeface="Calibri" pitchFamily="34" charset="-122"/>
                          <a:cs typeface="Calibri" pitchFamily="34" charset="-120"/>
                        </a:rPr>
                        <a:t>Reset riwayat</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alibri" pitchFamily="34" charset="0"/>
                          <a:ea typeface="Calibri" pitchFamily="34" charset="-122"/>
                          <a:cs typeface="Calibri" pitchFamily="34" charset="-120"/>
                        </a:rPr>
                        <a:t>Konfirmasi modal reset</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dirty="0">
                          <a:solidFill>
                            <a:srgbClr val="3A5257"/>
                          </a:solidFill>
                          <a:latin typeface="Calibri" pitchFamily="34" charset="0"/>
                          <a:ea typeface="Calibri" pitchFamily="34" charset="-122"/>
                          <a:cs typeface="Calibri" pitchFamily="34" charset="-120"/>
                        </a:rPr>
                        <a:t>Seluruh baris riwayat_pemeriksaan terhapus</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c>
                  <a:txBody>
                    <a:bodyPr/>
                    <a:lstStyle/>
                    <a:p>
                      <a:pPr indent="0" marL="0">
                        <a:buNone/>
                      </a:pPr>
                      <a:r>
                        <a:rPr lang="en-US" sz="1200" b="1" dirty="0">
                          <a:solidFill>
                            <a:srgbClr val="045C63"/>
                          </a:solidFill>
                          <a:latin typeface="Calibri" pitchFamily="34" charset="0"/>
                          <a:ea typeface="Calibri" pitchFamily="34" charset="-122"/>
                          <a:cs typeface="Calibri" pitchFamily="34" charset="-120"/>
                        </a:rPr>
                        <a:t>Lulus</a:t>
                      </a:r>
                      <a:endParaRPr lang="en-US" sz="1200" dirty="0">
                        <a:latin typeface="Calibri" charset="0"/>
                        <a:ea typeface="Calibri" charset="0"/>
                        <a:cs typeface="Calibri" charset="0"/>
                      </a:endParaRPr>
                    </a:p>
                  </a:txBody>
                  <a:tcPr marL="91440" marR="91440" marT="45720" marB="45720" anchor="ctr">
                    <a:lnL w="12700" cap="flat" cmpd="sng" algn="ctr">
                      <a:solidFill>
                        <a:srgbClr val="D7EAE8"/>
                      </a:solidFill>
                      <a:prstDash val="solid"/>
                      <a:round/>
                      <a:headEnd type="none" w="med" len="med"/>
                      <a:tailEnd type="none" w="med" len="med"/>
                    </a:lnL>
                    <a:lnR w="12700" cap="flat" cmpd="sng" algn="ctr">
                      <a:solidFill>
                        <a:srgbClr val="D7EAE8"/>
                      </a:solidFill>
                      <a:prstDash val="solid"/>
                      <a:round/>
                      <a:headEnd type="none" w="med" len="med"/>
                      <a:tailEnd type="none" w="med" len="med"/>
                    </a:lnR>
                    <a:lnT w="12700" cap="flat" cmpd="sng" algn="ctr">
                      <a:solidFill>
                        <a:srgbClr val="D7EAE8"/>
                      </a:solidFill>
                      <a:prstDash val="solid"/>
                      <a:round/>
                      <a:headEnd type="none" w="med" len="med"/>
                      <a:tailEnd type="none" w="med" len="med"/>
                    </a:lnT>
                    <a:lnB w="12700" cap="flat" cmpd="sng" algn="ctr">
                      <a:solidFill>
                        <a:srgbClr val="D7EAE8"/>
                      </a:solidFill>
                      <a:prstDash val="solid"/>
                      <a:round/>
                      <a:headEnd type="none" w="med" len="med"/>
                      <a:tailEnd type="none" w="med" len="med"/>
                    </a:lnB>
                  </a:tcPr>
                </a:tc>
              </a:tr>
            </a:tbl>
          </a:graphicData>
        </a:graphic>
      </p:graphicFrame>
      <p:sp>
        <p:nvSpPr>
          <p:cNvPr id="5" name="Shape 2"/>
          <p:cNvSpPr/>
          <p:nvPr/>
        </p:nvSpPr>
        <p:spPr>
          <a:xfrm>
            <a:off x="548640" y="5166360"/>
            <a:ext cx="11064240" cy="822960"/>
          </a:xfrm>
          <a:prstGeom prst="roundRect">
            <a:avLst>
              <a:gd name="adj" fmla="val 11111"/>
            </a:avLst>
          </a:prstGeom>
          <a:solidFill>
            <a:srgbClr val="EAF6F5"/>
          </a:solidFill>
          <a:ln/>
        </p:spPr>
      </p:sp>
      <p:sp>
        <p:nvSpPr>
          <p:cNvPr id="6" name="Text 3"/>
          <p:cNvSpPr/>
          <p:nvPr/>
        </p:nvSpPr>
        <p:spPr>
          <a:xfrm>
            <a:off x="777240" y="5166360"/>
            <a:ext cx="10607040" cy="822960"/>
          </a:xfrm>
          <a:prstGeom prst="rect">
            <a:avLst/>
          </a:prstGeom>
          <a:noFill/>
          <a:ln/>
        </p:spPr>
        <p:txBody>
          <a:bodyPr wrap="square" rtlCol="0" anchor="ctr"/>
          <a:lstStyle/>
          <a:p>
            <a:pPr indent="0" marL="0">
              <a:buNone/>
            </a:pPr>
            <a:r>
              <a:rPr lang="en-US" sz="1200" i="1" dirty="0">
                <a:solidFill>
                  <a:srgbClr val="045C63"/>
                </a:solidFill>
                <a:latin typeface="Calibri" pitchFamily="34" charset="0"/>
                <a:ea typeface="Calibri" pitchFamily="34" charset="-122"/>
                <a:cs typeface="Calibri" pitchFamily="34" charset="-120"/>
              </a:rPr>
              <a:t>10 skenario diuji secara menyeluruh (termasuk edge case). Validasi backend (is_numeric, empty check) dan validasi frontend (pemilihan depot wajib) berhasil mencegah data tidak valid tersimpan.</a:t>
            </a:r>
            <a:endParaRPr lang="en-US" sz="1200" dirty="0"/>
          </a:p>
        </p:txBody>
      </p:sp>
      <p:sp>
        <p:nvSpPr>
          <p:cNvPr id="7" name="Text 4"/>
          <p:cNvSpPr/>
          <p:nvPr/>
        </p:nvSpPr>
        <p:spPr>
          <a:xfrm>
            <a:off x="457200" y="6519672"/>
            <a:ext cx="5486400" cy="274320"/>
          </a:xfrm>
          <a:prstGeom prst="rect">
            <a:avLst/>
          </a:prstGeom>
          <a:noFill/>
          <a:ln/>
        </p:spPr>
        <p:txBody>
          <a:bodyPr wrap="square" rtlCol="0" anchor="ctr"/>
          <a:lstStyle/>
          <a:p>
            <a:pPr algn="l" indent="0" marL="0">
              <a:buNone/>
            </a:pPr>
            <a:r>
              <a:rPr lang="en-US" sz="900" dirty="0">
                <a:solidFill>
                  <a:srgbClr val="6E8A8E"/>
                </a:solidFill>
                <a:latin typeface="Calibri" pitchFamily="34" charset="0"/>
                <a:ea typeface="Calibri" pitchFamily="34" charset="-122"/>
                <a:cs typeface="Calibri" pitchFamily="34" charset="-120"/>
              </a:rPr>
              <a:t>SI-PEKA · Sistem Penguji Kelayakan Air</a:t>
            </a:r>
            <a:endParaRPr lang="en-US" sz="900" dirty="0"/>
          </a:p>
        </p:txBody>
      </p:sp>
      <p:sp>
        <p:nvSpPr>
          <p:cNvPr id="8" name="Text 5"/>
          <p:cNvSpPr/>
          <p:nvPr/>
        </p:nvSpPr>
        <p:spPr>
          <a:xfrm>
            <a:off x="11430000" y="6519672"/>
            <a:ext cx="365760" cy="274320"/>
          </a:xfrm>
          <a:prstGeom prst="rect">
            <a:avLst/>
          </a:prstGeom>
          <a:noFill/>
          <a:ln/>
        </p:spPr>
        <p:txBody>
          <a:bodyPr wrap="square" rtlCol="0" anchor="ctr"/>
          <a:lstStyle/>
          <a:p>
            <a:pPr algn="r" indent="0" marL="0">
              <a:buNone/>
            </a:pPr>
            <a:r>
              <a:rPr lang="en-US" sz="900" dirty="0">
                <a:solidFill>
                  <a:srgbClr val="6E8A8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BAB 7 · PEMBAHASAN</a:t>
            </a:r>
            <a:endParaRPr lang="en-US" sz="1300" dirty="0"/>
          </a:p>
        </p:txBody>
      </p:sp>
      <p:sp>
        <p:nvSpPr>
          <p:cNvPr id="3" name="Text 1"/>
          <p:cNvSpPr/>
          <p:nvPr/>
        </p:nvSpPr>
        <p:spPr>
          <a:xfrm>
            <a:off x="548640" y="658368"/>
            <a:ext cx="10789920" cy="685800"/>
          </a:xfrm>
          <a:prstGeom prst="rect">
            <a:avLst/>
          </a:prstGeom>
          <a:noFill/>
          <a:ln/>
        </p:spPr>
        <p:txBody>
          <a:bodyPr wrap="square" rtlCol="0" anchor="ctr"/>
          <a:lstStyle/>
          <a:p>
            <a:pPr indent="0" marL="0">
              <a:buNone/>
            </a:pPr>
            <a:r>
              <a:rPr lang="en-US" sz="3000" b="1" dirty="0">
                <a:solidFill>
                  <a:srgbClr val="10262B"/>
                </a:solidFill>
                <a:latin typeface="Cambria" pitchFamily="34" charset="0"/>
                <a:ea typeface="Cambria" pitchFamily="34" charset="-122"/>
                <a:cs typeface="Cambria" pitchFamily="34" charset="-120"/>
              </a:rPr>
              <a:t>Tantangan yang Dihadapi</a:t>
            </a:r>
            <a:endParaRPr lang="en-US" sz="3000" dirty="0"/>
          </a:p>
        </p:txBody>
      </p:sp>
      <p:sp>
        <p:nvSpPr>
          <p:cNvPr id="4" name="Shape 2"/>
          <p:cNvSpPr/>
          <p:nvPr/>
        </p:nvSpPr>
        <p:spPr>
          <a:xfrm>
            <a:off x="548640" y="1600200"/>
            <a:ext cx="11064240" cy="1417320"/>
          </a:xfrm>
          <a:prstGeom prst="roundRect">
            <a:avLst>
              <a:gd name="adj" fmla="val 6452"/>
            </a:avLst>
          </a:prstGeom>
          <a:solidFill>
            <a:srgbClr val="F3FAF9"/>
          </a:solidFill>
          <a:ln w="12700">
            <a:solidFill>
              <a:srgbClr val="D7EAE8"/>
            </a:solidFill>
            <a:prstDash val="solid"/>
          </a:ln>
        </p:spPr>
      </p:sp>
      <p:sp>
        <p:nvSpPr>
          <p:cNvPr id="5" name="Shape 3"/>
          <p:cNvSpPr/>
          <p:nvPr/>
        </p:nvSpPr>
        <p:spPr>
          <a:xfrm>
            <a:off x="822960" y="1984248"/>
            <a:ext cx="640080" cy="640080"/>
          </a:xfrm>
          <a:prstGeom prst="ellipse">
            <a:avLst/>
          </a:prstGeom>
          <a:solidFill>
            <a:srgbClr val="028090"/>
          </a:solidFill>
          <a:ln/>
        </p:spPr>
      </p:sp>
      <p:sp>
        <p:nvSpPr>
          <p:cNvPr id="6" name="Text 4"/>
          <p:cNvSpPr/>
          <p:nvPr/>
        </p:nvSpPr>
        <p:spPr>
          <a:xfrm>
            <a:off x="822960" y="1965960"/>
            <a:ext cx="640080" cy="64008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691640" y="1764792"/>
            <a:ext cx="9692640" cy="365760"/>
          </a:xfrm>
          <a:prstGeom prst="rect">
            <a:avLst/>
          </a:prstGeom>
          <a:noFill/>
          <a:ln/>
        </p:spPr>
        <p:txBody>
          <a:bodyPr wrap="square" rtlCol="0" anchor="ctr"/>
          <a:lstStyle/>
          <a:p>
            <a:pPr indent="0" marL="0">
              <a:buNone/>
            </a:pPr>
            <a:r>
              <a:rPr lang="en-US" sz="1450" b="1" dirty="0">
                <a:solidFill>
                  <a:srgbClr val="10262B"/>
                </a:solidFill>
                <a:latin typeface="Calibri" pitchFamily="34" charset="0"/>
                <a:ea typeface="Calibri" pitchFamily="34" charset="-122"/>
                <a:cs typeface="Calibri" pitchFamily="34" charset="-120"/>
              </a:rPr>
              <a:t>Migrasi id_depot Statis → Relasi Dinamis</a:t>
            </a:r>
            <a:endParaRPr lang="en-US" sz="1450" dirty="0"/>
          </a:p>
        </p:txBody>
      </p:sp>
      <p:sp>
        <p:nvSpPr>
          <p:cNvPr id="8" name="Text 6"/>
          <p:cNvSpPr/>
          <p:nvPr/>
        </p:nvSpPr>
        <p:spPr>
          <a:xfrm>
            <a:off x="1691640" y="2148840"/>
            <a:ext cx="9692640" cy="777240"/>
          </a:xfrm>
          <a:prstGeom prst="rect">
            <a:avLst/>
          </a:prstGeom>
          <a:noFill/>
          <a:ln/>
        </p:spPr>
        <p:txBody>
          <a:bodyPr wrap="square" rtlCol="0" anchor="ctr"/>
          <a:lstStyle/>
          <a:p>
            <a:pPr indent="0" marL="0">
              <a:lnSpc>
                <a:spcPct val="130000"/>
              </a:lnSpc>
              <a:buNone/>
            </a:pPr>
            <a:r>
              <a:rPr lang="en-US" sz="1250" dirty="0">
                <a:solidFill>
                  <a:srgbClr val="3A5257"/>
                </a:solidFill>
                <a:latin typeface="Calibri" pitchFamily="34" charset="0"/>
                <a:ea typeface="Calibri" pitchFamily="34" charset="-122"/>
                <a:cs typeface="Calibri" pitchFamily="34" charset="-120"/>
              </a:rPr>
              <a:t>Endpoint tetap kompatibel mundur (fallback id_depot=1) sambil mewajibkan pemilihan depot eksplisit di frontend baru.</a:t>
            </a:r>
            <a:endParaRPr lang="en-US" sz="1250" dirty="0"/>
          </a:p>
        </p:txBody>
      </p:sp>
      <p:sp>
        <p:nvSpPr>
          <p:cNvPr id="9" name="Shape 7"/>
          <p:cNvSpPr/>
          <p:nvPr/>
        </p:nvSpPr>
        <p:spPr>
          <a:xfrm>
            <a:off x="548640" y="3200400"/>
            <a:ext cx="11064240" cy="1417320"/>
          </a:xfrm>
          <a:prstGeom prst="roundRect">
            <a:avLst>
              <a:gd name="adj" fmla="val 6452"/>
            </a:avLst>
          </a:prstGeom>
          <a:solidFill>
            <a:srgbClr val="FFFFFF"/>
          </a:solidFill>
          <a:ln w="12700">
            <a:solidFill>
              <a:srgbClr val="D7EAE8"/>
            </a:solidFill>
            <a:prstDash val="solid"/>
          </a:ln>
        </p:spPr>
      </p:sp>
      <p:sp>
        <p:nvSpPr>
          <p:cNvPr id="10" name="Shape 8"/>
          <p:cNvSpPr/>
          <p:nvPr/>
        </p:nvSpPr>
        <p:spPr>
          <a:xfrm>
            <a:off x="822960" y="3584448"/>
            <a:ext cx="640080" cy="640080"/>
          </a:xfrm>
          <a:prstGeom prst="ellipse">
            <a:avLst/>
          </a:prstGeom>
          <a:solidFill>
            <a:srgbClr val="028090"/>
          </a:solidFill>
          <a:ln/>
        </p:spPr>
      </p:sp>
      <p:sp>
        <p:nvSpPr>
          <p:cNvPr id="11" name="Text 9"/>
          <p:cNvSpPr/>
          <p:nvPr/>
        </p:nvSpPr>
        <p:spPr>
          <a:xfrm>
            <a:off x="822960" y="3566160"/>
            <a:ext cx="640080" cy="64008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1691640" y="3364992"/>
            <a:ext cx="9692640" cy="365760"/>
          </a:xfrm>
          <a:prstGeom prst="rect">
            <a:avLst/>
          </a:prstGeom>
          <a:noFill/>
          <a:ln/>
        </p:spPr>
        <p:txBody>
          <a:bodyPr wrap="square" rtlCol="0" anchor="ctr"/>
          <a:lstStyle/>
          <a:p>
            <a:pPr indent="0" marL="0">
              <a:buNone/>
            </a:pPr>
            <a:r>
              <a:rPr lang="en-US" sz="1450" b="1" dirty="0">
                <a:solidFill>
                  <a:srgbClr val="10262B"/>
                </a:solidFill>
                <a:latin typeface="Calibri" pitchFamily="34" charset="0"/>
                <a:ea typeface="Calibri" pitchFamily="34" charset="-122"/>
                <a:cs typeface="Calibri" pitchFamily="34" charset="-120"/>
              </a:rPr>
              <a:t>Sinkronisasi Dua Dropdown</a:t>
            </a:r>
            <a:endParaRPr lang="en-US" sz="1450" dirty="0"/>
          </a:p>
        </p:txBody>
      </p:sp>
      <p:sp>
        <p:nvSpPr>
          <p:cNvPr id="13" name="Text 11"/>
          <p:cNvSpPr/>
          <p:nvPr/>
        </p:nvSpPr>
        <p:spPr>
          <a:xfrm>
            <a:off x="1691640" y="3749040"/>
            <a:ext cx="9692640" cy="777240"/>
          </a:xfrm>
          <a:prstGeom prst="rect">
            <a:avLst/>
          </a:prstGeom>
          <a:noFill/>
          <a:ln/>
        </p:spPr>
        <p:txBody>
          <a:bodyPr wrap="square" rtlCol="0" anchor="ctr"/>
          <a:lstStyle/>
          <a:p>
            <a:pPr indent="0" marL="0">
              <a:lnSpc>
                <a:spcPct val="130000"/>
              </a:lnSpc>
              <a:buNone/>
            </a:pPr>
            <a:r>
              <a:rPr lang="en-US" sz="1250" dirty="0">
                <a:solidFill>
                  <a:srgbClr val="3A5257"/>
                </a:solidFill>
                <a:latin typeface="Calibri" pitchFamily="34" charset="0"/>
                <a:ea typeface="Calibri" pitchFamily="34" charset="-122"/>
                <a:cs typeface="Calibri" pitchFamily="34" charset="-120"/>
              </a:rPr>
              <a:t>Satu fungsi loadDepotOptions() memanggil GET ?action=depot sekali, lalu mengisi dropdown form &amp; filter sekaligus.</a:t>
            </a:r>
            <a:endParaRPr lang="en-US" sz="1250" dirty="0"/>
          </a:p>
        </p:txBody>
      </p:sp>
      <p:sp>
        <p:nvSpPr>
          <p:cNvPr id="14" name="Shape 12"/>
          <p:cNvSpPr/>
          <p:nvPr/>
        </p:nvSpPr>
        <p:spPr>
          <a:xfrm>
            <a:off x="548640" y="4800600"/>
            <a:ext cx="11064240" cy="1417320"/>
          </a:xfrm>
          <a:prstGeom prst="roundRect">
            <a:avLst>
              <a:gd name="adj" fmla="val 6452"/>
            </a:avLst>
          </a:prstGeom>
          <a:solidFill>
            <a:srgbClr val="F3FAF9"/>
          </a:solidFill>
          <a:ln w="12700">
            <a:solidFill>
              <a:srgbClr val="D7EAE8"/>
            </a:solidFill>
            <a:prstDash val="solid"/>
          </a:ln>
        </p:spPr>
      </p:sp>
      <p:sp>
        <p:nvSpPr>
          <p:cNvPr id="15" name="Shape 13"/>
          <p:cNvSpPr/>
          <p:nvPr/>
        </p:nvSpPr>
        <p:spPr>
          <a:xfrm>
            <a:off x="822960" y="5184648"/>
            <a:ext cx="640080" cy="640080"/>
          </a:xfrm>
          <a:prstGeom prst="ellipse">
            <a:avLst/>
          </a:prstGeom>
          <a:solidFill>
            <a:srgbClr val="028090"/>
          </a:solidFill>
          <a:ln/>
        </p:spPr>
      </p:sp>
      <p:sp>
        <p:nvSpPr>
          <p:cNvPr id="16" name="Text 14"/>
          <p:cNvSpPr/>
          <p:nvPr/>
        </p:nvSpPr>
        <p:spPr>
          <a:xfrm>
            <a:off x="822960" y="5166360"/>
            <a:ext cx="640080" cy="64008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1691640" y="4965192"/>
            <a:ext cx="9692640" cy="365760"/>
          </a:xfrm>
          <a:prstGeom prst="rect">
            <a:avLst/>
          </a:prstGeom>
          <a:noFill/>
          <a:ln/>
        </p:spPr>
        <p:txBody>
          <a:bodyPr wrap="square" rtlCol="0" anchor="ctr"/>
          <a:lstStyle/>
          <a:p>
            <a:pPr indent="0" marL="0">
              <a:buNone/>
            </a:pPr>
            <a:r>
              <a:rPr lang="en-US" sz="1450" b="1" dirty="0">
                <a:solidFill>
                  <a:srgbClr val="10262B"/>
                </a:solidFill>
                <a:latin typeface="Calibri" pitchFamily="34" charset="0"/>
                <a:ea typeface="Calibri" pitchFamily="34" charset="-122"/>
                <a:cs typeface="Calibri" pitchFamily="34" charset="-120"/>
              </a:rPr>
              <a:t>Riwayat Tetap Tampil Meski Depot Dihapus</a:t>
            </a:r>
            <a:endParaRPr lang="en-US" sz="1450" dirty="0"/>
          </a:p>
        </p:txBody>
      </p:sp>
      <p:sp>
        <p:nvSpPr>
          <p:cNvPr id="18" name="Text 16"/>
          <p:cNvSpPr/>
          <p:nvPr/>
        </p:nvSpPr>
        <p:spPr>
          <a:xfrm>
            <a:off x="1691640" y="5349240"/>
            <a:ext cx="9692640" cy="777240"/>
          </a:xfrm>
          <a:prstGeom prst="rect">
            <a:avLst/>
          </a:prstGeom>
          <a:noFill/>
          <a:ln/>
        </p:spPr>
        <p:txBody>
          <a:bodyPr wrap="square" rtlCol="0" anchor="ctr"/>
          <a:lstStyle/>
          <a:p>
            <a:pPr indent="0" marL="0">
              <a:lnSpc>
                <a:spcPct val="130000"/>
              </a:lnSpc>
              <a:buNone/>
            </a:pPr>
            <a:r>
              <a:rPr lang="en-US" sz="1250" dirty="0">
                <a:solidFill>
                  <a:srgbClr val="3A5257"/>
                </a:solidFill>
                <a:latin typeface="Calibri" pitchFamily="34" charset="0"/>
                <a:ea typeface="Calibri" pitchFamily="34" charset="-122"/>
                <a:cs typeface="Calibri" pitchFamily="34" charset="-120"/>
              </a:rPr>
              <a:t>LEFT JOIN (bukan INNER JOIN) dengan fallback label "(Depot Terhapus)" menjaga integritas histori.</a:t>
            </a:r>
            <a:endParaRPr lang="en-US" sz="1250" dirty="0"/>
          </a:p>
        </p:txBody>
      </p:sp>
      <p:sp>
        <p:nvSpPr>
          <p:cNvPr id="19" name="Text 17"/>
          <p:cNvSpPr/>
          <p:nvPr/>
        </p:nvSpPr>
        <p:spPr>
          <a:xfrm>
            <a:off x="457200" y="6519672"/>
            <a:ext cx="5486400" cy="274320"/>
          </a:xfrm>
          <a:prstGeom prst="rect">
            <a:avLst/>
          </a:prstGeom>
          <a:noFill/>
          <a:ln/>
        </p:spPr>
        <p:txBody>
          <a:bodyPr wrap="square" rtlCol="0" anchor="ctr"/>
          <a:lstStyle/>
          <a:p>
            <a:pPr algn="l" indent="0" marL="0">
              <a:buNone/>
            </a:pPr>
            <a:r>
              <a:rPr lang="en-US" sz="900" dirty="0">
                <a:solidFill>
                  <a:srgbClr val="6E8A8E"/>
                </a:solidFill>
                <a:latin typeface="Calibri" pitchFamily="34" charset="0"/>
                <a:ea typeface="Calibri" pitchFamily="34" charset="-122"/>
                <a:cs typeface="Calibri" pitchFamily="34" charset="-120"/>
              </a:rPr>
              <a:t>SI-PEKA · Sistem Penguji Kelayakan Air</a:t>
            </a:r>
            <a:endParaRPr lang="en-US" sz="900" dirty="0"/>
          </a:p>
        </p:txBody>
      </p:sp>
      <p:sp>
        <p:nvSpPr>
          <p:cNvPr id="20" name="Text 18"/>
          <p:cNvSpPr/>
          <p:nvPr/>
        </p:nvSpPr>
        <p:spPr>
          <a:xfrm>
            <a:off x="11430000" y="6519672"/>
            <a:ext cx="365760" cy="274320"/>
          </a:xfrm>
          <a:prstGeom prst="rect">
            <a:avLst/>
          </a:prstGeom>
          <a:noFill/>
          <a:ln/>
        </p:spPr>
        <p:txBody>
          <a:bodyPr wrap="square" rtlCol="0" anchor="ctr"/>
          <a:lstStyle/>
          <a:p>
            <a:pPr algn="r" indent="0" marL="0">
              <a:buNone/>
            </a:pPr>
            <a:r>
              <a:rPr lang="en-US" sz="900" dirty="0">
                <a:solidFill>
                  <a:srgbClr val="6E8A8E"/>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BAB 8 · KESIMPULAN</a:t>
            </a:r>
            <a:endParaRPr lang="en-US" sz="1300" dirty="0"/>
          </a:p>
        </p:txBody>
      </p:sp>
      <p:sp>
        <p:nvSpPr>
          <p:cNvPr id="3" name="Text 1"/>
          <p:cNvSpPr/>
          <p:nvPr/>
        </p:nvSpPr>
        <p:spPr>
          <a:xfrm>
            <a:off x="548640" y="658368"/>
            <a:ext cx="10789920" cy="685800"/>
          </a:xfrm>
          <a:prstGeom prst="rect">
            <a:avLst/>
          </a:prstGeom>
          <a:noFill/>
          <a:ln/>
        </p:spPr>
        <p:txBody>
          <a:bodyPr wrap="square" rtlCol="0" anchor="ctr"/>
          <a:lstStyle/>
          <a:p>
            <a:pPr indent="0" marL="0">
              <a:buNone/>
            </a:pPr>
            <a:r>
              <a:rPr lang="en-US" sz="3000" b="1" dirty="0">
                <a:solidFill>
                  <a:srgbClr val="10262B"/>
                </a:solidFill>
                <a:latin typeface="Cambria" pitchFamily="34" charset="0"/>
                <a:ea typeface="Cambria" pitchFamily="34" charset="-122"/>
                <a:cs typeface="Cambria" pitchFamily="34" charset="-120"/>
              </a:rPr>
              <a:t>Ringkasan Capaian</a:t>
            </a:r>
            <a:endParaRPr lang="en-US" sz="3000" dirty="0"/>
          </a:p>
        </p:txBody>
      </p:sp>
      <p:sp>
        <p:nvSpPr>
          <p:cNvPr id="4" name="Shape 2"/>
          <p:cNvSpPr/>
          <p:nvPr/>
        </p:nvSpPr>
        <p:spPr>
          <a:xfrm>
            <a:off x="548640" y="1673352"/>
            <a:ext cx="146304" cy="146304"/>
          </a:xfrm>
          <a:prstGeom prst="ellipse">
            <a:avLst/>
          </a:prstGeom>
          <a:solidFill>
            <a:srgbClr val="02C39A"/>
          </a:solidFill>
          <a:ln/>
        </p:spPr>
      </p:sp>
      <p:sp>
        <p:nvSpPr>
          <p:cNvPr id="5" name="Text 3"/>
          <p:cNvSpPr/>
          <p:nvPr/>
        </p:nvSpPr>
        <p:spPr>
          <a:xfrm>
            <a:off x="868680" y="1508760"/>
            <a:ext cx="10698480" cy="640080"/>
          </a:xfrm>
          <a:prstGeom prst="rect">
            <a:avLst/>
          </a:prstGeom>
          <a:noFill/>
          <a:ln/>
        </p:spPr>
        <p:txBody>
          <a:bodyPr wrap="square" rtlCol="0" anchor="ctr"/>
          <a:lstStyle/>
          <a:p>
            <a:pPr indent="0" marL="0">
              <a:lnSpc>
                <a:spcPct val="130000"/>
              </a:lnSpc>
              <a:buNone/>
            </a:pPr>
            <a:r>
              <a:rPr lang="en-US" sz="1450" dirty="0">
                <a:solidFill>
                  <a:srgbClr val="3A5257"/>
                </a:solidFill>
                <a:latin typeface="Calibri" pitchFamily="34" charset="0"/>
                <a:ea typeface="Calibri" pitchFamily="34" charset="-122"/>
                <a:cs typeface="Calibri" pitchFamily="34" charset="-120"/>
              </a:rPr>
              <a:t>Metode Weighted Product berhasil menentukan status kelayakan air dari tiga kriteria dengan bobot yang dapat disesuaikan pengguna</a:t>
            </a:r>
            <a:endParaRPr lang="en-US" sz="1450" dirty="0"/>
          </a:p>
        </p:txBody>
      </p:sp>
      <p:sp>
        <p:nvSpPr>
          <p:cNvPr id="6" name="Shape 4"/>
          <p:cNvSpPr/>
          <p:nvPr/>
        </p:nvSpPr>
        <p:spPr>
          <a:xfrm>
            <a:off x="548640" y="2450592"/>
            <a:ext cx="146304" cy="146304"/>
          </a:xfrm>
          <a:prstGeom prst="ellipse">
            <a:avLst/>
          </a:prstGeom>
          <a:solidFill>
            <a:srgbClr val="02C39A"/>
          </a:solidFill>
          <a:ln/>
        </p:spPr>
      </p:sp>
      <p:sp>
        <p:nvSpPr>
          <p:cNvPr id="7" name="Text 5"/>
          <p:cNvSpPr/>
          <p:nvPr/>
        </p:nvSpPr>
        <p:spPr>
          <a:xfrm>
            <a:off x="868680" y="2286000"/>
            <a:ext cx="10698480" cy="640080"/>
          </a:xfrm>
          <a:prstGeom prst="rect">
            <a:avLst/>
          </a:prstGeom>
          <a:noFill/>
          <a:ln/>
        </p:spPr>
        <p:txBody>
          <a:bodyPr wrap="square" rtlCol="0" anchor="ctr"/>
          <a:lstStyle/>
          <a:p>
            <a:pPr indent="0" marL="0">
              <a:lnSpc>
                <a:spcPct val="130000"/>
              </a:lnSpc>
              <a:buNone/>
            </a:pPr>
            <a:r>
              <a:rPr lang="en-US" sz="1450" dirty="0">
                <a:solidFill>
                  <a:srgbClr val="3A5257"/>
                </a:solidFill>
                <a:latin typeface="Calibri" pitchFamily="34" charset="0"/>
                <a:ea typeface="Calibri" pitchFamily="34" charset="-122"/>
                <a:cs typeface="Calibri" pitchFamily="34" charset="-120"/>
              </a:rPr>
              <a:t>Basis data relasional tiga tabel mendukung pencatatan riwayat yang terhubung ke depot spesifik secara historis</a:t>
            </a:r>
            <a:endParaRPr lang="en-US" sz="1450" dirty="0"/>
          </a:p>
        </p:txBody>
      </p:sp>
      <p:sp>
        <p:nvSpPr>
          <p:cNvPr id="8" name="Shape 6"/>
          <p:cNvSpPr/>
          <p:nvPr/>
        </p:nvSpPr>
        <p:spPr>
          <a:xfrm>
            <a:off x="548640" y="3227832"/>
            <a:ext cx="146304" cy="146304"/>
          </a:xfrm>
          <a:prstGeom prst="ellipse">
            <a:avLst/>
          </a:prstGeom>
          <a:solidFill>
            <a:srgbClr val="02C39A"/>
          </a:solidFill>
          <a:ln/>
        </p:spPr>
      </p:sp>
      <p:sp>
        <p:nvSpPr>
          <p:cNvPr id="9" name="Text 7"/>
          <p:cNvSpPr/>
          <p:nvPr/>
        </p:nvSpPr>
        <p:spPr>
          <a:xfrm>
            <a:off x="868680" y="3063240"/>
            <a:ext cx="10698480" cy="640080"/>
          </a:xfrm>
          <a:prstGeom prst="rect">
            <a:avLst/>
          </a:prstGeom>
          <a:noFill/>
          <a:ln/>
        </p:spPr>
        <p:txBody>
          <a:bodyPr wrap="square" rtlCol="0" anchor="ctr"/>
          <a:lstStyle/>
          <a:p>
            <a:pPr indent="0" marL="0">
              <a:lnSpc>
                <a:spcPct val="130000"/>
              </a:lnSpc>
              <a:buNone/>
            </a:pPr>
            <a:r>
              <a:rPr lang="en-US" sz="1450" dirty="0">
                <a:solidFill>
                  <a:srgbClr val="3A5257"/>
                </a:solidFill>
                <a:latin typeface="Calibri" pitchFamily="34" charset="0"/>
                <a:ea typeface="Calibri" pitchFamily="34" charset="-122"/>
                <a:cs typeface="Calibri" pitchFamily="34" charset="-120"/>
              </a:rPr>
              <a:t>Filter riwayat per depot memungkinkan pemantauan tren kualitas air tiap depot tanpa data tercampur</a:t>
            </a:r>
            <a:endParaRPr lang="en-US" sz="1450" dirty="0"/>
          </a:p>
        </p:txBody>
      </p:sp>
      <p:sp>
        <p:nvSpPr>
          <p:cNvPr id="10" name="Shape 8"/>
          <p:cNvSpPr/>
          <p:nvPr/>
        </p:nvSpPr>
        <p:spPr>
          <a:xfrm>
            <a:off x="548640" y="4005072"/>
            <a:ext cx="146304" cy="146304"/>
          </a:xfrm>
          <a:prstGeom prst="ellipse">
            <a:avLst/>
          </a:prstGeom>
          <a:solidFill>
            <a:srgbClr val="02C39A"/>
          </a:solidFill>
          <a:ln/>
        </p:spPr>
      </p:sp>
      <p:sp>
        <p:nvSpPr>
          <p:cNvPr id="11" name="Text 9"/>
          <p:cNvSpPr/>
          <p:nvPr/>
        </p:nvSpPr>
        <p:spPr>
          <a:xfrm>
            <a:off x="868680" y="3840480"/>
            <a:ext cx="10698480" cy="640080"/>
          </a:xfrm>
          <a:prstGeom prst="rect">
            <a:avLst/>
          </a:prstGeom>
          <a:noFill/>
          <a:ln/>
        </p:spPr>
        <p:txBody>
          <a:bodyPr wrap="square" rtlCol="0" anchor="ctr"/>
          <a:lstStyle/>
          <a:p>
            <a:pPr indent="0" marL="0">
              <a:lnSpc>
                <a:spcPct val="130000"/>
              </a:lnSpc>
              <a:buNone/>
            </a:pPr>
            <a:r>
              <a:rPr lang="en-US" sz="1450" dirty="0">
                <a:solidFill>
                  <a:srgbClr val="3A5257"/>
                </a:solidFill>
                <a:latin typeface="Calibri" pitchFamily="34" charset="0"/>
                <a:ea typeface="Calibri" pitchFamily="34" charset="-122"/>
                <a:cs typeface="Calibri" pitchFamily="34" charset="-120"/>
              </a:rPr>
              <a:t>Integrasi frontend, backend PHP/PDO, dan MySQL berjalan end-to-end dengan validasi berlapis</a:t>
            </a:r>
            <a:endParaRPr lang="en-US" sz="1450" dirty="0"/>
          </a:p>
        </p:txBody>
      </p:sp>
      <p:sp>
        <p:nvSpPr>
          <p:cNvPr id="12" name="Shape 10"/>
          <p:cNvSpPr/>
          <p:nvPr/>
        </p:nvSpPr>
        <p:spPr>
          <a:xfrm>
            <a:off x="548640" y="4782312"/>
            <a:ext cx="146304" cy="146304"/>
          </a:xfrm>
          <a:prstGeom prst="ellipse">
            <a:avLst/>
          </a:prstGeom>
          <a:solidFill>
            <a:srgbClr val="02C39A"/>
          </a:solidFill>
          <a:ln/>
        </p:spPr>
      </p:sp>
      <p:sp>
        <p:nvSpPr>
          <p:cNvPr id="13" name="Text 11"/>
          <p:cNvSpPr/>
          <p:nvPr/>
        </p:nvSpPr>
        <p:spPr>
          <a:xfrm>
            <a:off x="868680" y="4617720"/>
            <a:ext cx="10698480" cy="640080"/>
          </a:xfrm>
          <a:prstGeom prst="rect">
            <a:avLst/>
          </a:prstGeom>
          <a:noFill/>
          <a:ln/>
        </p:spPr>
        <p:txBody>
          <a:bodyPr wrap="square" rtlCol="0" anchor="ctr"/>
          <a:lstStyle/>
          <a:p>
            <a:pPr indent="0" marL="0">
              <a:lnSpc>
                <a:spcPct val="130000"/>
              </a:lnSpc>
              <a:buNone/>
            </a:pPr>
            <a:r>
              <a:rPr lang="en-US" sz="1450" dirty="0">
                <a:solidFill>
                  <a:srgbClr val="3A5257"/>
                </a:solidFill>
                <a:latin typeface="Calibri" pitchFamily="34" charset="0"/>
                <a:ea typeface="Calibri" pitchFamily="34" charset="-122"/>
                <a:cs typeface="Calibri" pitchFamily="34" charset="-120"/>
              </a:rPr>
              <a:t>Seluruh skenario pengujian, termasuk edge case, berhasil dilaksanakan sesuai harapan</a:t>
            </a:r>
            <a:endParaRPr lang="en-US" sz="1450" dirty="0"/>
          </a:p>
        </p:txBody>
      </p:sp>
      <p:sp>
        <p:nvSpPr>
          <p:cNvPr id="14" name="Shape 12"/>
          <p:cNvSpPr/>
          <p:nvPr/>
        </p:nvSpPr>
        <p:spPr>
          <a:xfrm>
            <a:off x="548640" y="5669280"/>
            <a:ext cx="11064240" cy="685800"/>
          </a:xfrm>
          <a:prstGeom prst="roundRect">
            <a:avLst>
              <a:gd name="adj" fmla="val 13333"/>
            </a:avLst>
          </a:prstGeom>
          <a:solidFill>
            <a:srgbClr val="045C63"/>
          </a:solidFill>
          <a:ln/>
        </p:spPr>
      </p:sp>
      <p:sp>
        <p:nvSpPr>
          <p:cNvPr id="15" name="Text 13"/>
          <p:cNvSpPr/>
          <p:nvPr/>
        </p:nvSpPr>
        <p:spPr>
          <a:xfrm>
            <a:off x="777240" y="5669280"/>
            <a:ext cx="10607040" cy="685800"/>
          </a:xfrm>
          <a:prstGeom prst="rect">
            <a:avLst/>
          </a:prstGeom>
          <a:noFill/>
          <a:ln/>
        </p:spPr>
        <p:txBody>
          <a:bodyPr wrap="square" rtlCol="0" anchor="ctr"/>
          <a:lstStyle/>
          <a:p>
            <a:pPr indent="0" marL="0">
              <a:buNone/>
            </a:pPr>
            <a:r>
              <a:rPr lang="en-US" sz="1250" i="1" dirty="0">
                <a:solidFill>
                  <a:srgbClr val="F2FBFA"/>
                </a:solidFill>
                <a:latin typeface="Calibri" pitchFamily="34" charset="0"/>
                <a:ea typeface="Calibri" pitchFamily="34" charset="-122"/>
                <a:cs typeface="Calibri" pitchFamily="34" charset="-120"/>
              </a:rPr>
              <a:t>Proyek SI-PEKA memberi pemahaman praktis penerapan metode pengambilan keputusan multi-kriteria pada sistem web dengan basis data relasional yang terstruktur baik.</a:t>
            </a:r>
            <a:endParaRPr lang="en-US" sz="1250" dirty="0"/>
          </a:p>
        </p:txBody>
      </p:sp>
      <p:sp>
        <p:nvSpPr>
          <p:cNvPr id="16" name="Text 14"/>
          <p:cNvSpPr/>
          <p:nvPr/>
        </p:nvSpPr>
        <p:spPr>
          <a:xfrm>
            <a:off x="457200" y="6519672"/>
            <a:ext cx="5486400" cy="274320"/>
          </a:xfrm>
          <a:prstGeom prst="rect">
            <a:avLst/>
          </a:prstGeom>
          <a:noFill/>
          <a:ln/>
        </p:spPr>
        <p:txBody>
          <a:bodyPr wrap="square" rtlCol="0" anchor="ctr"/>
          <a:lstStyle/>
          <a:p>
            <a:pPr algn="l" indent="0" marL="0">
              <a:buNone/>
            </a:pPr>
            <a:r>
              <a:rPr lang="en-US" sz="900" dirty="0">
                <a:solidFill>
                  <a:srgbClr val="6E8A8E"/>
                </a:solidFill>
                <a:latin typeface="Calibri" pitchFamily="34" charset="0"/>
                <a:ea typeface="Calibri" pitchFamily="34" charset="-122"/>
                <a:cs typeface="Calibri" pitchFamily="34" charset="-120"/>
              </a:rPr>
              <a:t>SI-PEKA · Sistem Penguji Kelayakan Air</a:t>
            </a:r>
            <a:endParaRPr lang="en-US" sz="900" dirty="0"/>
          </a:p>
        </p:txBody>
      </p:sp>
      <p:sp>
        <p:nvSpPr>
          <p:cNvPr id="17" name="Text 15"/>
          <p:cNvSpPr/>
          <p:nvPr/>
        </p:nvSpPr>
        <p:spPr>
          <a:xfrm>
            <a:off x="11430000" y="6519672"/>
            <a:ext cx="365760" cy="274320"/>
          </a:xfrm>
          <a:prstGeom prst="rect">
            <a:avLst/>
          </a:prstGeom>
          <a:noFill/>
          <a:ln/>
        </p:spPr>
        <p:txBody>
          <a:bodyPr wrap="square" rtlCol="0" anchor="ctr"/>
          <a:lstStyle/>
          <a:p>
            <a:pPr algn="r" indent="0" marL="0">
              <a:buNone/>
            </a:pPr>
            <a:r>
              <a:rPr lang="en-US" sz="900" dirty="0">
                <a:solidFill>
                  <a:srgbClr val="6E8A8E"/>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97280" y="-1463040"/>
            <a:ext cx="4754880" cy="4754880"/>
          </a:xfrm>
          <a:prstGeom prst="ellipse">
            <a:avLst/>
          </a:prstGeom>
          <a:solidFill>
            <a:srgbClr val="EAF6F5"/>
          </a:solidFill>
          <a:ln/>
        </p:spPr>
      </p:sp>
      <p:sp>
        <p:nvSpPr>
          <p:cNvPr id="3" name="Shape 1"/>
          <p:cNvSpPr/>
          <p:nvPr/>
        </p:nvSpPr>
        <p:spPr>
          <a:xfrm>
            <a:off x="9875520" y="4114800"/>
            <a:ext cx="4206240" cy="4206240"/>
          </a:xfrm>
          <a:prstGeom prst="ellipse">
            <a:avLst/>
          </a:prstGeom>
          <a:solidFill>
            <a:srgbClr val="F3FAF9"/>
          </a:solidFill>
          <a:ln/>
        </p:spPr>
      </p:sp>
      <p:sp>
        <p:nvSpPr>
          <p:cNvPr id="4" name="Text 2"/>
          <p:cNvSpPr/>
          <p:nvPr/>
        </p:nvSpPr>
        <p:spPr>
          <a:xfrm>
            <a:off x="822960" y="2377440"/>
            <a:ext cx="10058400" cy="822960"/>
          </a:xfrm>
          <a:prstGeom prst="rect">
            <a:avLst/>
          </a:prstGeom>
          <a:noFill/>
          <a:ln/>
        </p:spPr>
        <p:txBody>
          <a:bodyPr wrap="square" rtlCol="0" anchor="ctr"/>
          <a:lstStyle/>
          <a:p>
            <a:pPr indent="0" marL="0">
              <a:buNone/>
            </a:pPr>
            <a:r>
              <a:rPr lang="en-US" sz="4400" b="1" dirty="0">
                <a:solidFill>
                  <a:srgbClr val="10262B"/>
                </a:solidFill>
                <a:latin typeface="Cambria" pitchFamily="34" charset="0"/>
                <a:ea typeface="Cambria" pitchFamily="34" charset="-122"/>
                <a:cs typeface="Cambria" pitchFamily="34" charset="-120"/>
              </a:rPr>
              <a:t>TERIMA KASIH</a:t>
            </a:r>
            <a:endParaRPr lang="en-US" sz="4400" dirty="0"/>
          </a:p>
        </p:txBody>
      </p:sp>
      <p:sp>
        <p:nvSpPr>
          <p:cNvPr id="5" name="Text 3"/>
          <p:cNvSpPr/>
          <p:nvPr/>
        </p:nvSpPr>
        <p:spPr>
          <a:xfrm>
            <a:off x="868680" y="3246120"/>
            <a:ext cx="9144000" cy="731520"/>
          </a:xfrm>
          <a:prstGeom prst="rect">
            <a:avLst/>
          </a:prstGeom>
          <a:noFill/>
          <a:ln/>
        </p:spPr>
        <p:txBody>
          <a:bodyPr wrap="square" rtlCol="0" anchor="ctr"/>
          <a:lstStyle/>
          <a:p>
            <a:pPr indent="0" marL="0">
              <a:lnSpc>
                <a:spcPct val="130000"/>
              </a:lnSpc>
              <a:buNone/>
            </a:pPr>
            <a:r>
              <a:rPr lang="en-US" sz="1600" dirty="0">
                <a:solidFill>
                  <a:srgbClr val="3A5257"/>
                </a:solidFill>
                <a:latin typeface="Calibri" pitchFamily="34" charset="0"/>
                <a:ea typeface="Calibri" pitchFamily="34" charset="-122"/>
                <a:cs typeface="Calibri" pitchFamily="34" charset="-120"/>
              </a:rPr>
              <a:t>SI-PEKA — Sistem Penguji Kelayakan Air Depot Isi Ulang</a:t>
            </a:r>
            <a:endParaRPr lang="en-US" sz="1600" dirty="0"/>
          </a:p>
          <a:p>
            <a:pPr indent="0" marL="0">
              <a:lnSpc>
                <a:spcPct val="130000"/>
              </a:lnSpc>
              <a:buNone/>
            </a:pPr>
            <a:r>
              <a:rPr lang="en-US" sz="1600" dirty="0">
                <a:solidFill>
                  <a:srgbClr val="3A5257"/>
                </a:solidFill>
                <a:latin typeface="Calibri" pitchFamily="34" charset="0"/>
                <a:ea typeface="Calibri" pitchFamily="34" charset="-122"/>
                <a:cs typeface="Calibri" pitchFamily="34" charset="-120"/>
              </a:rPr>
              <a:t>Menggunakan Metode Weighted Product (WP)</a:t>
            </a:r>
            <a:endParaRPr lang="en-US" sz="1600" dirty="0"/>
          </a:p>
        </p:txBody>
      </p:sp>
      <p:sp>
        <p:nvSpPr>
          <p:cNvPr id="6" name="Text 4"/>
          <p:cNvSpPr/>
          <p:nvPr/>
        </p:nvSpPr>
        <p:spPr>
          <a:xfrm>
            <a:off x="868680" y="4114800"/>
            <a:ext cx="8229600" cy="640080"/>
          </a:xfrm>
          <a:prstGeom prst="rect">
            <a:avLst/>
          </a:prstGeom>
          <a:noFill/>
          <a:ln/>
        </p:spPr>
        <p:txBody>
          <a:bodyPr wrap="square" rtlCol="0" anchor="ctr"/>
          <a:lstStyle/>
          <a:p>
            <a:pPr indent="0" marL="0">
              <a:lnSpc>
                <a:spcPct val="130000"/>
              </a:lnSpc>
              <a:buNone/>
            </a:pPr>
            <a:r>
              <a:rPr lang="en-US" sz="1300" dirty="0">
                <a:solidFill>
                  <a:srgbClr val="6E8A8E"/>
                </a:solidFill>
                <a:latin typeface="Calibri" pitchFamily="34" charset="0"/>
                <a:ea typeface="Calibri" pitchFamily="34" charset="-122"/>
                <a:cs typeface="Calibri" pitchFamily="34" charset="-120"/>
              </a:rPr>
              <a:t>Raditya Cahya Azura · 3202516116</a:t>
            </a:r>
            <a:endParaRPr lang="en-US" sz="1300" dirty="0"/>
          </a:p>
          <a:p>
            <a:pPr indent="0" marL="0">
              <a:lnSpc>
                <a:spcPct val="130000"/>
              </a:lnSpc>
              <a:buNone/>
            </a:pPr>
            <a:r>
              <a:rPr lang="en-US" sz="1300" dirty="0">
                <a:solidFill>
                  <a:srgbClr val="6E8A8E"/>
                </a:solidFill>
                <a:latin typeface="Calibri" pitchFamily="34" charset="0"/>
                <a:ea typeface="Calibri" pitchFamily="34" charset="-122"/>
                <a:cs typeface="Calibri" pitchFamily="34" charset="-120"/>
              </a:rPr>
              <a:t>Politeknik Negeri Pontianak — D-3 Teknik Informatika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2026-07-13T03:52:26Z</dcterms:created>
  <dcterms:modified xsi:type="dcterms:W3CDTF">2026-07-13T03:52:26Z</dcterms:modified>
</cp:coreProperties>
</file>